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03B61"/>
              </a:solidFill>
              <a:effectLst/>
            </c:spPr>
          </c:dPt>
          <c:dPt>
            <c:idx val="1"/>
            <c:bubble3D val="0"/>
            <c:spPr>
              <a:solidFill>
                <a:srgbClr val="AAB7C7"/>
              </a:solidFill>
              <a:effectLst/>
            </c:spPr>
          </c:dPt>
          <c:dPt>
            <c:idx val="2"/>
            <c:bubble3D val="0"/>
            <c:spPr>
              <a:solidFill>
                <a:srgbClr val="8F6922"/>
              </a:solidFill>
              <a:effectLst/>
            </c:spPr>
          </c:dPt>
          <c:dPt>
            <c:idx val="3"/>
            <c:bubble3D val="0"/>
            <c:spPr>
              <a:solidFill>
                <a:srgbClr val="788C86"/>
              </a:solidFill>
              <a:effectLst/>
            </c:spPr>
          </c:dPt>
          <c:dLbls>
            <c:dLbl>
              <c:idx val="0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03B6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03B6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03B6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.#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203B6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.#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材料 44.8%</c:v>
                </c:pt>
                <c:pt idx="1">
                  <c:v>人工 15.4%</c:v>
                </c:pt>
                <c:pt idx="2">
                  <c:v>制造费用 20.3%</c:v>
                </c:pt>
                <c:pt idx="3">
                  <c:v>期间费用 19.6%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128</c:v>
                </c:pt>
                <c:pt idx="1">
                  <c:v>44</c:v>
                </c:pt>
                <c:pt idx="2">
                  <c:v>58</c:v>
                </c:pt>
                <c:pt idx="3">
                  <c:v>56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</c:v>
                </c:pt>
                <c:pt idx="1">
                  <c:v>44</c:v>
                </c:pt>
                <c:pt idx="2">
                  <c:v>58</c:v>
                </c:pt>
                <c:pt idx="3">
                  <c:v>26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AB7C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45</c:v>
                </c:pt>
                <c:pt idx="2">
                  <c:v>50</c:v>
                </c:pt>
                <c:pt idx="3">
                  <c:v>24</c:v>
                </c:pt>
                <c:pt idx="4">
                  <c:v>20</c:v>
                </c:pt>
                <c:pt idx="5">
                  <c:v>11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203B61"/>
            </a:solidFill>
            <a:ln w="25400" cap="flat">
              <a:solidFill>
                <a:srgbClr val="203B61"/>
              </a:solidFill>
              <a:prstDash val="solid"/>
              <a:round/>
            </a:ln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03B61"/>
              </a:solidFill>
              <a:ln w="9525" cap="flat">
                <a:solidFill>
                  <a:srgbClr val="203B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</c:v>
                </c:pt>
                <c:pt idx="1">
                  <c:v>251</c:v>
                </c:pt>
                <c:pt idx="2">
                  <c:v>260</c:v>
                </c:pt>
                <c:pt idx="3">
                  <c:v>274</c:v>
                </c:pt>
                <c:pt idx="4">
                  <c:v>279</c:v>
                </c:pt>
                <c:pt idx="5">
                  <c:v>286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AB7C7"/>
            </a:solidFill>
            <a:ln w="25400" cap="flat">
              <a:solidFill>
                <a:srgbClr val="AAB7C7"/>
              </a:solidFill>
              <a:prstDash val="solid"/>
              <a:round/>
            </a:ln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AB7C7"/>
              </a:solidFill>
              <a:ln w="9525" cap="flat">
                <a:solidFill>
                  <a:srgbClr val="AAB7C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250</c:v>
                </c:pt>
                <c:pt idx="1">
                  <c:v>255</c:v>
                </c:pt>
                <c:pt idx="2">
                  <c:v>260</c:v>
                </c:pt>
                <c:pt idx="3">
                  <c:v>265</c:v>
                </c:pt>
                <c:pt idx="4">
                  <c:v>268</c:v>
                </c:pt>
                <c:pt idx="5">
                  <c:v>270</c:v>
                </c:pt>
              </c:numCache>
            </c:numRef>
          </c:val>
          <c:smooth val="0"/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差异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+0;-0;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03B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B7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F692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53C3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725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96A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直接材料</c:v>
                  </c:pt>
                  <c:pt idx="1">
                    <c:v>直接人工</c:v>
                  </c:pt>
                  <c:pt idx="2">
                    <c:v>制造费用</c:v>
                  </c:pt>
                  <c:pt idx="3">
                    <c:v>销售费用</c:v>
                  </c:pt>
                  <c:pt idx="4">
                    <c:v>管理费用</c:v>
                  </c:pt>
                  <c:pt idx="5">
                    <c:v>研发费用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-1</c:v>
                </c:pt>
                <c:pt idx="2">
                  <c:v>8</c:v>
                </c:pt>
                <c:pt idx="3">
                  <c:v>2</c:v>
                </c:pt>
                <c:pt idx="4">
                  <c:v>-2</c:v>
                </c:pt>
                <c:pt idx="5">
                  <c:v>1</c:v>
                </c:pt>
              </c:numCache>
            </c:numRef>
          </c:val>
        </c:ser>
        <c:dLbls>
          <c:numFmt formatCode="+0;-0;0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4"/>
        </c:scaling>
        <c:delete val="0"/>
        <c:axPos val="b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数量影响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材料A</c:v>
                  </c:pt>
                  <c:pt idx="1">
                    <c:v>材料B</c:v>
                  </c:pt>
                  <c:pt idx="2">
                    <c:v>材料C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-50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价格影响</c:v>
                </c:pt>
              </c:strCache>
            </c:strRef>
          </c:tx>
          <c:spPr>
            <a:solidFill>
              <a:srgbClr val="AAB7C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材料A</c:v>
                  </c:pt>
                  <c:pt idx="1">
                    <c:v>材料B</c:v>
                  </c:pt>
                  <c:pt idx="2">
                    <c:v>材料C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-52.5</c:v>
                </c:pt>
                <c:pt idx="1">
                  <c:v>113.99999999999993</c:v>
                </c:pt>
                <c:pt idx="2">
                  <c:v>168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-100"/>
        </c:scaling>
        <c:delete val="0"/>
        <c:axPos val="l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材料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160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人工</c:v>
                </c:pt>
              </c:strCache>
            </c:strRef>
          </c:tx>
          <c:spPr>
            <a:solidFill>
              <a:srgbClr val="AAB7C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</c:v>
                </c:pt>
                <c:pt idx="1">
                  <c:v>50</c:v>
                </c:pt>
                <c:pt idx="2">
                  <c:v>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制造费用</c:v>
                </c:pt>
              </c:strCache>
            </c:strRef>
          </c:tx>
          <c:spPr>
            <a:solidFill>
              <a:srgbClr val="8F6922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产品A</c:v>
                  </c:pt>
                  <c:pt idx="1">
                    <c:v>产品B</c:v>
                  </c:pt>
                  <c:pt idx="2">
                    <c:v>产品C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</c:v>
                </c:pt>
                <c:pt idx="1">
                  <c:v>65</c:v>
                </c:pt>
                <c:pt idx="2">
                  <c:v>45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</c:v>
                </c:pt>
              </c:strCache>
            </c:strRef>
          </c:tx>
          <c:spPr>
            <a:solidFill>
              <a:srgbClr val="203B6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市场部</c:v>
                  </c:pt>
                  <c:pt idx="1">
                    <c:v>职能部门</c:v>
                  </c:pt>
                  <c:pt idx="2">
                    <c:v>研发部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</c:v>
                </c:pt>
              </c:strCache>
            </c:strRef>
          </c:tx>
          <c:spPr>
            <a:solidFill>
              <a:srgbClr val="AAB7C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3B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市场部</c:v>
                  </c:pt>
                  <c:pt idx="1">
                    <c:v>职能部门</c:v>
                  </c:pt>
                  <c:pt idx="2">
                    <c:v>研发部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</c:v>
                </c:pt>
                <c:pt idx="1">
                  <c:v>20</c:v>
                </c:pt>
                <c:pt idx="2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203B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B61"/>
                </a:solidFill>
                <a:latin typeface="Microsoft YaHei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12700" cap="flat">
              <a:solidFill>
                <a:srgbClr val="D4D4C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4D4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505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icrosoft YaHei UI"/>
              <a:cs typeface="Microsoft YaHei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CC01.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CC02.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CC03.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CC04.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CC05.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CC06.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CC07.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CC08. Synthetic demo only. Source layout inspiration: https://mp.weixin.qq.com/s/NHaS4-Wy3B5MNCv2q72wmg . Source figures, ratings, thresholds and brand assets not reproduced. Native objects do not prove data-edit refresh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月度成本费用预算与管控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封面与范围  ·  使用时替换报告期间、范围和预算版本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01 / 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58368" y="1810512"/>
            <a:ext cx="4709160" cy="4178808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2194560"/>
            <a:ext cx="4023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DF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预算执行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DF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差异分析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DF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责任跟踪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950976" y="4846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4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EXPENSE REVIEW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50976" y="5376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样张，不是本期经营结论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61888" y="198424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期间与范围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61888" y="2414016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演示年6月；成本与期间费用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预算版本：V-demo（合成）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961888" y="33375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本次报告回答什么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61888" y="3767328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花了多少？哪里超预算？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哪些差异需要业务解释？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961888" y="46908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会议需要确认什么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961888" y="5120640"/>
            <a:ext cx="4983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核查责任、动作与完成时点；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没有证据的原因保留待核查。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本月成本费用超预算 16 万元，先定位主要差异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预算总览  ·  金额：万元；差异 = 实际 − 预算；正数表示超支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02 / 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" y="1773936"/>
            <a:ext cx="2542032" cy="10789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实际发生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286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804672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六项互斥明细合计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438144" y="1773936"/>
            <a:ext cx="2542032" cy="10789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预算合计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566160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270</a:t>
            </a:r>
            <a:endParaRPr lang="en-US" sz="2700" dirty="0"/>
          </a:p>
        </p:txBody>
      </p:sp>
      <p:sp>
        <p:nvSpPr>
          <p:cNvPr id="18" name="Text 15"/>
          <p:cNvSpPr/>
          <p:nvPr/>
        </p:nvSpPr>
        <p:spPr>
          <a:xfrm>
            <a:off x="3566160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使用同一预算版本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199632" y="1773936"/>
            <a:ext cx="2542032" cy="10789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超预算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327648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+16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6327648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差异率 5.9%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961120" y="1773936"/>
            <a:ext cx="2542032" cy="10789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089136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制造费用差异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089136" y="21945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9089136" y="263347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本页只定位，不直接判定原因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77240" y="3218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本期构成</a:t>
            </a:r>
            <a:endParaRPr lang="en-US" sz="16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13232" y="3648456"/>
          <a:ext cx="42976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5"/>
          <p:cNvSpPr/>
          <p:nvPr/>
        </p:nvSpPr>
        <p:spPr>
          <a:xfrm>
            <a:off x="5111496" y="32186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实际与预算对比</a:t>
            </a:r>
            <a:endParaRPr lang="en-US" sz="16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4937760" y="3630168"/>
          <a:ext cx="6556248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6"/>
          <p:cNvSpPr/>
          <p:nvPr/>
        </p:nvSpPr>
        <p:spPr>
          <a:xfrm>
            <a:off x="658368" y="5870448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4672" y="5920740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实际与预算按同一分类比较；环图的期间费用仅由销售、管理、研发三项组成。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材料与制造费用解释了主要超支，管理费用低于预算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执行明细  ·  金额：万元；预算为正值时，差异率 = 差异 / 预算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03 / 08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901952"/>
          <a:ext cx="1078992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463040"/>
                <a:gridCol w="1463040"/>
                <a:gridCol w="1645920"/>
                <a:gridCol w="19202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成本费用项目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差异率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差异方向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直接材料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6.7%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直接人工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45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-2.2%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低于预算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16.0%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24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8.3%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管理费用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18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-10.0%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低于预算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研发费用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9.1%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286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270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+16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5.9%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超支</a:t>
                      </a:r>
                      <a:endParaRPr lang="en-US" sz="15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6C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“低于预算”不自动等于节约：先核查业务量、付款/计提节奏、服务水平和预算编制口径。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实际发生逐月上升，差异集中在材料和制造费用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趋势与差异  ·  金额：万元；不通过趋势外观推断价格、效率或业务因果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04 / 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22376" y="18928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实际与预算趋势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21792" y="2340864"/>
          <a:ext cx="5614416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6519672" y="1892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本月差异（实际−预算）</a:t>
            </a:r>
            <a:endParaRPr lang="en-US" sz="16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37376" y="2340864"/>
          <a:ext cx="5084064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0"/>
          <p:cNvSpPr/>
          <p:nvPr/>
        </p:nvSpPr>
        <p:spPr>
          <a:xfrm>
            <a:off x="658368" y="5678424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4672" y="572871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下一步核查：业务量变化、采购价格、产能利用，以及费用计提和活动节奏。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材料量价合计影响 +309.5 元，分解须与总差异勾稽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材料量价  ·  独立示例，不与本包万元汇总表混加；用量同单位，价格为元/单位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05 / 08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" y="1837944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737360"/>
                <a:gridCol w="1737360"/>
                <a:gridCol w="173736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标准量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标准价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实际量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实际价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总差异（元）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材料A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105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9.5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-2.5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材料B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190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5.6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+64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材料C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84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22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+248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40664" y="38039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分解：数量影响与价格影响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" y="4169664"/>
          <a:ext cx="6035040" cy="1618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9"/>
          <p:cNvSpPr/>
          <p:nvPr/>
        </p:nvSpPr>
        <p:spPr>
          <a:xfrm>
            <a:off x="7040880" y="4160520"/>
            <a:ext cx="4443984" cy="1581912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260336" y="4361688"/>
            <a:ext cx="39867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数量影响 = (实际量−标准量) × 标准价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价格影响 = (实际价−标准价) × 实际量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两者之和 = 实际金额−标准金额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这里的“标准量”须按可比产量确定；换一种分解顺序会改变分项，不改变总差异。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先对齐成本口径，再比较不同产品的单位成本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产品单位成本  ·  元/件；相同期间与分摊口径；下列为独立合成示例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06 / 08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75688"/>
          <a:ext cx="5715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280160"/>
                <a:gridCol w="960120"/>
              </a:tblGrid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材料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人工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合计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产品A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120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210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产品B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160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50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65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275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产品C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90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35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45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170</a:t>
                      </a:r>
                      <a:endParaRPr lang="en-US" sz="14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912864" y="19293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各产品单位成本构成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784848" y="2468880"/>
          <a:ext cx="4709160" cy="28712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/>
          <p:nvPr/>
        </p:nvSpPr>
        <p:spPr>
          <a:xfrm>
            <a:off x="777240" y="46817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比较前先问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777240" y="515721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规格、产量与分摊方法是否可比？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产品结构变化，不能直接当作成本效率变化。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单位成本按产量加权汇总；本页不对不同产品单位成本作简单相加。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部门费用有增有减，先确认可控范围和核查责任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部门费用  ·  金额：万元；可控性需要合同、职责与业务条件证据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07 / 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19019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实际与预算</a:t>
            </a:r>
            <a:endParaRPr lang="en-US" sz="16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2395728"/>
          <a:ext cx="5276088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6291072" y="190195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可控性与责任确认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2395728"/>
          <a:ext cx="5102352" cy="914400"/>
        </p:xfrm>
        <a:graphic>
          <a:graphicData uri="http://schemas.openxmlformats.org/drawingml/2006/table">
            <a:tbl>
              <a:tblPr/>
              <a:tblGrid>
                <a:gridCol w="1033272"/>
                <a:gridCol w="2130552"/>
                <a:gridCol w="1938528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部门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可控性判断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核查角色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待核实合同约束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职能部门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待区分可调/刚性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职能负责人（待确认）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按项目里程碑判断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研发负责人（待确认）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327648" y="5349240"/>
            <a:ext cx="49651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先核实约束，再讨论动作。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不要把固定费用等同于不可控费用。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58368" y="5952744"/>
            <a:ext cx="10844784" cy="310896"/>
          </a:xfrm>
          <a:prstGeom prst="rect">
            <a:avLst/>
          </a:prstGeom>
          <a:solidFill>
            <a:srgbClr val="EFE6CF"/>
          </a:solidFill>
          <a:ln w="12700">
            <a:solidFill>
              <a:srgbClr val="EFE6CF">
                <a:alpha val="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04672" y="6003036"/>
            <a:ext cx="10497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角色仅为示例占位，未向任何人分派工作；正式汇报须确认责任人与截止时点。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56616"/>
          </a:xfrm>
          <a:prstGeom prst="rect">
            <a:avLst/>
          </a:prstGeom>
          <a:solidFill>
            <a:srgbClr val="203B61"/>
          </a:solidFill>
          <a:ln w="12700">
            <a:solidFill>
              <a:srgbClr val="203B6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成本费用预算与管控  /  模板样张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98480" y="68580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DF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CC08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63093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B61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异常台账要把证据、责任和下一步放在一起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128930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异常与行动  ·  金额：万元；待核查项目不是已认定损失，也不是整改完成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6364224"/>
            <a:ext cx="10881360" cy="0"/>
          </a:xfrm>
          <a:prstGeom prst="line">
            <a:avLst/>
          </a:prstGeom>
          <a:noFill/>
          <a:ln w="7620">
            <a:solidFill>
              <a:srgbClr val="D4D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47395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合成演示数据 · 非真实经营结果  |  演示年6月  |  CC08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648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08 / 08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75104"/>
          <a:ext cx="10789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2240280"/>
                <a:gridCol w="2423160"/>
                <a:gridCol w="2468880"/>
                <a:gridCol w="1554480"/>
              </a:tblGrid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异常项目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差异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需要的证据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核查角色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下一动作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DF7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状态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B61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直接材料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价格/耗用明细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采购+生产（待确认）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对齐量价口径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制造费用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+8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维修/能耗明细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生产团队（待确认）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区分一次性与持续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3E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销售费用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53C38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+2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活动/合同/效果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市场团队（待确认）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核对投入产出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03B61"/>
                          </a:solidFill>
                          <a:latin typeface="Microsoft YaHei UI" pitchFamily="34" charset="0"/>
                          <a:ea typeface="Microsoft YaHei UI" pitchFamily="34" charset="-122"/>
                          <a:cs typeface="Microsoft YaHei UI" pitchFamily="34" charset="-120"/>
                        </a:rPr>
                        <a:t>待核查</a:t>
                      </a:r>
                      <a:endParaRPr lang="en-US" sz="1200" dirty="0">
                        <a:latin typeface="Microsoft YaHei UI" charset="0"/>
                        <a:ea typeface="Microsoft YaHei UI" charset="0"/>
                        <a:cs typeface="Microsoft YaHei UI" charset="0"/>
                      </a:endParaRPr>
                    </a:p>
                  </a:txBody>
                  <a:tcPr marL="91440" marR="91440" marT="73152" marB="73152">
                    <a:lnL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13232" y="4892040"/>
            <a:ext cx="3172968" cy="1078992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41248" y="4992624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本表待核查超支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1248" y="5312664"/>
            <a:ext cx="2916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B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+18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841248" y="5751576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505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前三个项目；并非全表净差异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98264" y="501091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692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会议确认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398264" y="547725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补齐证据 → 确认原因 → 确认责任与时点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03B61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完成后回看原指标，不只填写“已处理”。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Su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成本费用管控版式样张</dc:title>
  <dc:subject>仅合成演示数据；版式与配色独立</dc:subject>
  <dc:creator>Patrick</dc:creator>
  <cp:lastModifiedBy>Patrick</cp:lastModifiedBy>
  <cp:revision>1</cp:revision>
  <dcterms:created xsi:type="dcterms:W3CDTF">2026-10-10T07:11:54Z</dcterms:created>
  <dcterms:modified xsi:type="dcterms:W3CDTF">2026-10-10T07:11:54Z</dcterms:modified>
</cp:coreProperties>
</file>
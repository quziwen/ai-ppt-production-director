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88"/>
          <c:h val="0.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新增订单</c:v>
                </c:pt>
              </c:strCache>
            </c:strRef>
          </c:tx>
          <c:spPr>
            <a:solidFill>
              <a:srgbClr val="590A8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17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54</c:v>
                </c:pt>
                <c:pt idx="2">
                  <c:v>52</c:v>
                </c:pt>
                <c:pt idx="3">
                  <c:v>58</c:v>
                </c:pt>
                <c:pt idx="4">
                  <c:v>63</c:v>
                </c:pt>
                <c:pt idx="5">
                  <c:v>70</c:v>
                </c:pt>
                <c:pt idx="6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817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DDE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DD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DDE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ER01;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ER02;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ER03;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ER04;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ER05;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ER06;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经营概览：增长、利润与现金放在一起看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ER01  大数字概览与评审目标  ·  金额：演示单位；期间：Y2 Q3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本期收入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396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较上季 +9.1%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5371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经营利润率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53712" y="21396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553712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较上季 +1 个百分点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85048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每股收益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85048" y="213969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2.40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385048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较上季 +9.1%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3730752"/>
            <a:ext cx="1074420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本期自由现金流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45171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685800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前三季度累计 23；经营现金流减资本支出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53712" y="4096512"/>
            <a:ext cx="6793992" cy="1627632"/>
          </a:xfrm>
          <a:prstGeom prst="rect">
            <a:avLst/>
          </a:prstGeom>
          <a:solidFill>
            <a:srgbClr val="EBE5F4"/>
          </a:solidFill>
          <a:ln w="12700">
            <a:solidFill>
              <a:srgbClr val="EBE5F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431596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本次评审要回答什么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00600" y="48006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增长是否带来更好的盈利和现金？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哪些变化需要管理层作出取舍？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结构分析：先说变化，再看本期明细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ER02  结构摘要与本期明细  ·  金额：演示单位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45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北区贡献一半收入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240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 36，占总收入 50%。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53128" y="1645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三个区域同步增长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453128" y="2240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各区较上季均增长 9.1%。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0456" y="1645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先核实结构，再解释原因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0456" y="2240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表中没有价格、销量或客户因素证据。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255264"/>
          <a:ext cx="1069848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606040"/>
                <a:gridCol w="2606040"/>
                <a:gridCol w="2606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业务区域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Q3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北区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33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南区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东区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合计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31520" y="584301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读表提示：突出本期列；没有证据的增长原因，不从图表外观推断。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订单复盘：指标说明含义，趋势提供上下文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ER03  四指标与趋势  ·  金额：演示单位；订单不等于当期收入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本期新增订单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2082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2715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Q3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9584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前三季度订单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9584" y="202082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529584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Q1—Q3 合计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本期订单 / 收入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36484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1.11×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8580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同期间：80 / 72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29584" y="3291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累计订单 / 收入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29584" y="364845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1.08×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3529584" y="4343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同期间：213 / 198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" y="5047488"/>
            <a:ext cx="5321808" cy="932688"/>
          </a:xfrm>
          <a:prstGeom prst="rect">
            <a:avLst/>
          </a:prstGeom>
          <a:solidFill>
            <a:srgbClr val="EBE5F4"/>
          </a:solidFill>
          <a:ln w="12700">
            <a:solidFill>
              <a:srgbClr val="EBE5F4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5202936"/>
            <a:ext cx="4919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管理含义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553212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订单增长之后，还需核实交付能力、转化时间与回款条件。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37960" y="16733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新增订单趋势</a:t>
            </a:r>
            <a:endParaRPr lang="en-US" sz="17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19088" y="2249424"/>
          <a:ext cx="5074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资本回报：把结果与原因放在同一页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ER04  经营解读与回报矩阵  ·  比率为合成演示值，不构成投资判断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282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先看趋势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18541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三项回报指标在示例中逐期改善。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再拆分驱动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348386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正式分析需区分利润、投入资本和资产变化。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43251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最后作判断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478231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一次比率提升，不足以证明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长期资本效率改善。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87952" y="1929384"/>
          <a:ext cx="7123176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1197864"/>
                <a:gridCol w="1197864"/>
                <a:gridCol w="1197864"/>
                <a:gridCol w="1197864"/>
                <a:gridCol w="119786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指标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Y1 Q3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Y1 Q4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Q1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Q2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Q3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ROIC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17%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18%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19%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ROE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19%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23%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24%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ROA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8.5%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9.5%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187952" y="4791456"/>
            <a:ext cx="7123176" cy="877824"/>
          </a:xfrm>
          <a:prstGeom prst="rect">
            <a:avLst/>
          </a:prstGeom>
          <a:solidFill>
            <a:srgbClr val="EBE5F4"/>
          </a:solidFill>
          <a:ln w="12700">
            <a:solidFill>
              <a:srgbClr val="EBE5F4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07408" y="497433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本期列突出，不代表忽略历史口径。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期间、计算定义和一次性因素应随实际数据一并说明。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现金复盘：区分本期表现与累计贡献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ER05  现金指标与勾稽表  ·  演示口径：自由现金流 = 经营现金流 − 资本支出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本期自由现金流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299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Q3；演示单位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前三季度累计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20299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90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47472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对比上年同期 16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694176"/>
            <a:ext cx="5120640" cy="1490472"/>
          </a:xfrm>
          <a:prstGeom prst="rect">
            <a:avLst/>
          </a:prstGeom>
          <a:solidFill>
            <a:srgbClr val="EBE5F4"/>
          </a:solidFill>
          <a:ln w="12700">
            <a:solidFill>
              <a:srgbClr val="EBE5F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9044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现金改善来自哪里？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96112" y="4425696"/>
            <a:ext cx="4681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累计经营现金流由 22 增至 30；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资本支出由 6 增至 7。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2376" y="5541264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正式复盘还需解释应收、库存、付款和投资节奏，不能只报告现金余额。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91072" y="1536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Y1 前三季度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56816"/>
          <a:ext cx="50840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9536"/>
                <a:gridCol w="859536"/>
                <a:gridCol w="859536"/>
                <a:gridCol w="85953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项目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Q1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累计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经营现金流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资本支出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自由现金流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291072" y="3858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前三季度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279392"/>
          <a:ext cx="50840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9536"/>
                <a:gridCol w="859536"/>
                <a:gridCol w="859536"/>
                <a:gridCol w="85953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项目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Q1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累计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经营现金流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30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资本支出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171C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自由现金流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0A8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资本配置：把财务结果转成六项管理讨论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ER06  六项管理议题  ·  示例问题清单，具体决策需使用真实经营证据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14A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1636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71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627632" y="2020824"/>
            <a:ext cx="2414016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先保障必要投入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4944" y="2825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优先支持已有订单对应的交付能力。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条件：需求与回款已经核实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89704" y="1636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71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22392" y="2020824"/>
            <a:ext cx="2414016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再安排股东回报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89704" y="2825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分红与回购分别说明资金来源。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89704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条件：不挤占必要经营现金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84464" y="1636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71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9217152" y="2020824"/>
            <a:ext cx="2414016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4464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控制融资期限错配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84464" y="2825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按现金回收节奏安排债务期限。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84464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条件：压力情景仍可偿付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4944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71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1627632" y="4306824"/>
            <a:ext cx="2414016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保留流动性余量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4944" y="5111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用现金预测明确最低安全余额。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4944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条件：说明假设与触发动作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89704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71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5422392" y="4306824"/>
            <a:ext cx="2414016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89704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重大投资分阶段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489704" y="5111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阶段投入与验证结果相挂钩。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489704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条件：达到里程碑再追加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284464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71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9217152" y="4306824"/>
            <a:ext cx="2414016" cy="0"/>
          </a:xfrm>
          <a:prstGeom prst="line">
            <a:avLst/>
          </a:prstGeom>
          <a:noFill/>
          <a:ln w="10160">
            <a:solidFill>
              <a:srgbClr val="DCDDE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84464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明确决策与责任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284464" y="5111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71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把讨论变成责任、时点和验收。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284464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D59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条件：责任人确认后执行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经营财报版式样张</dc:title>
  <dc:subject>可换配色的经营财报版式；全部合成演示数据</dc:subject>
  <dc:creator>Patrick</dc:creator>
  <cp:lastModifiedBy>Patrick</cp:lastModifiedBy>
  <cp:revision>1</cp:revision>
  <dcterms:created xsi:type="dcterms:W3CDTF">2026-10-03T17:32:12Z</dcterms:created>
  <dcterms:modified xsi:type="dcterms:W3CDTF">2026-10-03T17:32:12Z</dcterms:modified>
</cp:coreProperties>
</file>
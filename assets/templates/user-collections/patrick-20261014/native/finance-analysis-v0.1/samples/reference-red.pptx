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收入（左轴）</c:v>
                </c:pt>
              </c:strCache>
            </c:strRef>
          </c:tx>
          <c:spPr>
            <a:solidFill>
              <a:srgbClr val="C9C7C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926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46</c:v>
                </c:pt>
                <c:pt idx="2">
                  <c:v>52</c:v>
                </c:pt>
                <c:pt idx="3">
                  <c:v>59</c:v>
                </c:pt>
                <c:pt idx="4">
                  <c:v>65</c:v>
                </c:pt>
                <c:pt idx="5">
                  <c:v>72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92626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经营现金（右轴）</c:v>
                </c:pt>
              </c:strCache>
            </c:strRef>
          </c:tx>
          <c:spPr>
            <a:solidFill>
              <a:srgbClr val="8A151B"/>
            </a:solidFill>
            <a:ln w="21590" cap="flat">
              <a:solidFill>
                <a:srgbClr val="8A151B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92626"/>
                    </a:solidFill>
                    <a:latin typeface="Arial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8A151B"/>
              </a:solidFill>
              <a:ln w="9525" cap="flat">
                <a:solidFill>
                  <a:srgbClr val="8A151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7</c:v>
                </c:pt>
                <c:pt idx="3">
                  <c:v>6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292626"/>
                  </a:solidFill>
                  <a:latin typeface="Arial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E1D6D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94"/>
          <c:min val="0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12"/>
          <c:min val="0"/>
        </c:scaling>
        <c:delete val="0"/>
        <c:axPos val="r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E1D6D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  <c:tickLblSkip val="1"/>
      </c:catAx>
      <c:spPr>
        <a:solidFill>
          <a:srgbClr val="FFF8F5"/>
        </a:solidFill>
        <a:ln w="12700" cap="flat">
          <a:solidFill>
            <a:srgbClr val="FFF8F5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solidFill>
      <a:srgbClr val="FFF8F5"/>
    </a:solidFill>
    <a:ln w="12700" cap="flat">
      <a:solidFill>
        <a:srgbClr val="FFF8F5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原材料</c:v>
                </c:pt>
              </c:strCache>
            </c:strRef>
          </c:tx>
          <c:spPr>
            <a:solidFill>
              <a:srgbClr val="8A151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92626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前期</c:v>
                  </c:pt>
                  <c:pt idx="1">
                    <c:v>本期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在产品</c:v>
                </c:pt>
              </c:strCache>
            </c:strRef>
          </c:tx>
          <c:spPr>
            <a:solidFill>
              <a:srgbClr val="6B6B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92626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前期</c:v>
                  </c:pt>
                  <c:pt idx="1">
                    <c:v>本期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</c:v>
                </c:pt>
                <c:pt idx="1">
                  <c:v>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产成品</c:v>
                </c:pt>
              </c:strCache>
            </c:strRef>
          </c:tx>
          <c:spPr>
            <a:solidFill>
              <a:srgbClr val="9C71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92626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前期</c:v>
                  </c:pt>
                  <c:pt idx="1">
                    <c:v>本期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</c:v>
                </c:pt>
                <c:pt idx="1">
                  <c:v>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92626"/>
                  </a:solidFill>
                  <a:latin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E1D6D3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FF8F5"/>
        </a:solidFill>
        <a:ln w="12700" cap="flat">
          <a:solidFill>
            <a:srgbClr val="FFF8F5"/>
          </a:solidFill>
        </a:ln>
        <a:effectLst/>
      </c:spPr>
    </c:plotArea>
    <c:plotVisOnly val="1"/>
    <c:dispBlanksAs val="span"/>
  </c:chart>
  <c:spPr>
    <a:solidFill>
      <a:srgbClr val="FFF8F5"/>
    </a:solidFill>
    <a:ln w="12700" cap="flat">
      <a:solidFill>
        <a:srgbClr val="FFF8F5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支出</c:v>
                </c:pt>
              </c:strCache>
            </c:strRef>
          </c:tx>
          <c:spPr>
            <a:solidFill>
              <a:srgbClr val="8A151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9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数字平台</c:v>
                  </c:pt>
                  <c:pt idx="1">
                    <c:v>物流系统</c:v>
                  </c:pt>
                  <c:pt idx="2">
                    <c:v>厂房改造</c:v>
                  </c:pt>
                  <c:pt idx="3">
                    <c:v>产线设备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1.6</c:v>
                </c:pt>
                <c:pt idx="2">
                  <c:v>2.8</c:v>
                </c:pt>
                <c:pt idx="3">
                  <c:v>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9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E1D6D3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8F5"/>
        </a:solidFill>
        <a:ln w="12700" cap="flat">
          <a:solidFill>
            <a:srgbClr val="FFF8F5"/>
          </a:solidFill>
        </a:ln>
        <a:effectLst/>
      </c:spPr>
    </c:plotArea>
    <c:plotVisOnly val="1"/>
    <c:dispBlanksAs val="span"/>
  </c:chart>
  <c:spPr>
    <a:solidFill>
      <a:srgbClr val="FFF8F5"/>
    </a:solidFill>
    <a:ln w="12700" cap="flat">
      <a:solidFill>
        <a:srgbClr val="FFF8F5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支出</c:v>
                </c:pt>
              </c:strCache>
            </c:strRef>
          </c:tx>
          <c:spPr>
            <a:solidFill>
              <a:srgbClr val="8A151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9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数字平台</c:v>
                  </c:pt>
                  <c:pt idx="1">
                    <c:v>物流系统</c:v>
                  </c:pt>
                  <c:pt idx="2">
                    <c:v>厂房改造</c:v>
                  </c:pt>
                  <c:pt idx="3">
                    <c:v>产线设备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1.6</c:v>
                </c:pt>
                <c:pt idx="2">
                  <c:v>2.8</c:v>
                </c:pt>
                <c:pt idx="3">
                  <c:v>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9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E1D6D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8F5"/>
        </a:solidFill>
        <a:ln w="12700" cap="flat">
          <a:solidFill>
            <a:srgbClr val="FFF8F5"/>
          </a:solidFill>
        </a:ln>
        <a:effectLst/>
      </c:spPr>
    </c:plotArea>
    <c:plotVisOnly val="1"/>
    <c:dispBlanksAs val="span"/>
  </c:chart>
  <c:spPr>
    <a:solidFill>
      <a:srgbClr val="FFF8F5"/>
    </a:solidFill>
    <a:ln w="12700" cap="flat">
      <a:solidFill>
        <a:srgbClr val="FFF8F5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投入（左轴）</c:v>
                </c:pt>
              </c:strCache>
            </c:strRef>
          </c:tx>
          <c:spPr>
            <a:solidFill>
              <a:srgbClr val="C9C7C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926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0.6</c:v>
                </c:pt>
                <c:pt idx="5">
                  <c:v>0.4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92626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产能增幅%（右轴）</c:v>
                </c:pt>
              </c:strCache>
            </c:strRef>
          </c:tx>
          <c:spPr>
            <a:solidFill>
              <a:srgbClr val="8A151B"/>
            </a:solidFill>
            <a:ln w="21590" cap="flat">
              <a:solidFill>
                <a:srgbClr val="8A151B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92626"/>
                    </a:solidFill>
                    <a:latin typeface="Arial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8A151B"/>
              </a:solidFill>
              <a:ln w="9525" cap="flat">
                <a:solidFill>
                  <a:srgbClr val="8A151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292626"/>
                  </a:solidFill>
                  <a:latin typeface="Arial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E1D6D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25"/>
          <c:min val="0"/>
        </c:scaling>
        <c:delete val="0"/>
        <c:axPos val="r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E1D6D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  <c:tickLblSkip val="1"/>
      </c:catAx>
      <c:spPr>
        <a:solidFill>
          <a:srgbClr val="FFF8F5"/>
        </a:solidFill>
        <a:ln w="12700" cap="flat">
          <a:solidFill>
            <a:srgbClr val="FFF8F5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solidFill>
      <a:srgbClr val="FFF8F5"/>
    </a:solidFill>
    <a:ln w="12700" cap="flat">
      <a:solidFill>
        <a:srgbClr val="FFF8F5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余额</c:v>
                </c:pt>
              </c:strCache>
            </c:strRef>
          </c:tx>
          <c:spPr>
            <a:solidFill>
              <a:srgbClr val="8A151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9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租赁融资</c:v>
                  </c:pt>
                  <c:pt idx="1">
                    <c:v>债券融资</c:v>
                  </c:pt>
                  <c:pt idx="2">
                    <c:v>供应链融资</c:v>
                  </c:pt>
                  <c:pt idx="3">
                    <c:v>银行借款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12</c:v>
                </c:pt>
                <c:pt idx="2">
                  <c:v>18</c:v>
                </c:pt>
                <c:pt idx="3">
                  <c:v>30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9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E1D6D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40"/>
          <c:min val="0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8F5"/>
        </a:solidFill>
        <a:ln w="12700" cap="flat">
          <a:solidFill>
            <a:srgbClr val="FFF8F5"/>
          </a:solidFill>
        </a:ln>
        <a:effectLst/>
      </c:spPr>
    </c:plotArea>
    <c:plotVisOnly val="1"/>
    <c:dispBlanksAs val="span"/>
  </c:chart>
  <c:spPr>
    <a:solidFill>
      <a:srgbClr val="FFF8F5"/>
    </a:solidFill>
    <a:ln w="12700" cap="flat">
      <a:solidFill>
        <a:srgbClr val="FFF8F5"/>
      </a:solidFill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前期</c:v>
                </c:pt>
              </c:strCache>
            </c:strRef>
          </c:tx>
          <c:spPr>
            <a:solidFill>
              <a:srgbClr val="C9C7C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9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产品A</c:v>
                  </c:pt>
                  <c:pt idx="1">
                    <c:v>产品B</c:v>
                  </c:pt>
                  <c:pt idx="2">
                    <c:v>产品C</c:v>
                  </c:pt>
                  <c:pt idx="3">
                    <c:v>其他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14</c:v>
                </c:pt>
                <c:pt idx="2">
                  <c:v>10</c:v>
                </c:pt>
                <c:pt idx="3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本期</c:v>
                </c:pt>
              </c:strCache>
            </c:strRef>
          </c:tx>
          <c:spPr>
            <a:solidFill>
              <a:srgbClr val="8A151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9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产品A</c:v>
                  </c:pt>
                  <c:pt idx="1">
                    <c:v>产品B</c:v>
                  </c:pt>
                  <c:pt idx="2">
                    <c:v>产品C</c:v>
                  </c:pt>
                  <c:pt idx="3">
                    <c:v>其他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</c:v>
                </c:pt>
                <c:pt idx="1">
                  <c:v>18</c:v>
                </c:pt>
                <c:pt idx="2">
                  <c:v>15</c:v>
                </c:pt>
                <c:pt idx="3">
                  <c:v>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9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E1D6D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8F5"/>
        </a:solidFill>
        <a:ln w="12700" cap="flat">
          <a:solidFill>
            <a:srgbClr val="FFF8F5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solidFill>
      <a:srgbClr val="FFF8F5"/>
    </a:solidFill>
    <a:ln w="12700" cap="flat">
      <a:solidFill>
        <a:srgbClr val="FFF8F5"/>
      </a:solidFill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原材料</c:v>
                </c:pt>
              </c:strCache>
            </c:strRef>
          </c:tx>
          <c:spPr>
            <a:solidFill>
              <a:srgbClr val="8A151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DFC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前期</c:v>
                  </c:pt>
                  <c:pt idx="1">
                    <c:v>本期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在产品</c:v>
                </c:pt>
              </c:strCache>
            </c:strRef>
          </c:tx>
          <c:spPr>
            <a:solidFill>
              <a:srgbClr val="6B6B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DFC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前期</c:v>
                  </c:pt>
                  <c:pt idx="1">
                    <c:v>本期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</c:v>
                </c:pt>
                <c:pt idx="1">
                  <c:v>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产成品</c:v>
                </c:pt>
              </c:strCache>
            </c:strRef>
          </c:tx>
          <c:spPr>
            <a:solidFill>
              <a:srgbClr val="9C71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DFC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前期</c:v>
                  </c:pt>
                  <c:pt idx="1">
                    <c:v>本期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</c:v>
                </c:pt>
                <c:pt idx="1">
                  <c:v>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FFFDFC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E1D6D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42"/>
          <c:min val="0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8F5"/>
        </a:solidFill>
        <a:ln w="12700" cap="flat">
          <a:solidFill>
            <a:srgbClr val="FFF8F5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solidFill>
      <a:srgbClr val="FFF8F5"/>
    </a:solidFill>
    <a:ln w="12700" cap="flat">
      <a:solidFill>
        <a:srgbClr val="FFF8F5"/>
      </a:solidFill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库存（左轴）</c:v>
                </c:pt>
              </c:strCache>
            </c:strRef>
          </c:tx>
          <c:spPr>
            <a:solidFill>
              <a:srgbClr val="C9C7C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926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产品A</c:v>
                  </c:pt>
                  <c:pt idx="1">
                    <c:v>产品B</c:v>
                  </c:pt>
                  <c:pt idx="2">
                    <c:v>产品C</c:v>
                  </c:pt>
                  <c:pt idx="3">
                    <c:v>其他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10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92626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周转天数（右轴）</c:v>
                </c:pt>
              </c:strCache>
            </c:strRef>
          </c:tx>
          <c:spPr>
            <a:solidFill>
              <a:srgbClr val="8A151B"/>
            </a:solidFill>
            <a:ln w="21590" cap="flat">
              <a:solidFill>
                <a:srgbClr val="8A151B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92626"/>
                    </a:solidFill>
                    <a:latin typeface="Arial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8A151B"/>
              </a:solidFill>
              <a:ln w="9525" cap="flat">
                <a:solidFill>
                  <a:srgbClr val="8A151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产品A</c:v>
                  </c:pt>
                  <c:pt idx="1">
                    <c:v>产品B</c:v>
                  </c:pt>
                  <c:pt idx="2">
                    <c:v>产品C</c:v>
                  </c:pt>
                  <c:pt idx="3">
                    <c:v>其他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</c:v>
                </c:pt>
                <c:pt idx="1">
                  <c:v>31</c:v>
                </c:pt>
                <c:pt idx="2">
                  <c:v>48</c:v>
                </c:pt>
                <c:pt idx="3">
                  <c:v>55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292626"/>
                  </a:solidFill>
                  <a:latin typeface="Arial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E1D6D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21"/>
          <c:min val="0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70"/>
          <c:min val="0"/>
        </c:scaling>
        <c:delete val="0"/>
        <c:axPos val="r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E1D6D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  <c:tickLblSkip val="1"/>
      </c:catAx>
      <c:spPr>
        <a:solidFill>
          <a:srgbClr val="FFF8F5"/>
        </a:solidFill>
        <a:ln w="12700" cap="flat">
          <a:solidFill>
            <a:srgbClr val="FFF8F5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solidFill>
      <a:srgbClr val="FFF8F5"/>
    </a:solidFill>
    <a:ln w="12700" cap="flat">
      <a:solidFill>
        <a:srgbClr val="FFF8F5"/>
      </a:solidFill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现金</c:v>
                </c:pt>
              </c:strCache>
            </c:strRef>
          </c:tx>
          <c:spPr>
            <a:solidFill>
              <a:srgbClr val="8A151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29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措施前</c:v>
                  </c:pt>
                  <c:pt idx="1">
                    <c:v>措施后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</c:v>
                </c:pt>
                <c:pt idx="1">
                  <c:v>23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2000" u="none">
                  <a:solidFill>
                    <a:srgbClr val="29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E1D6D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8F5"/>
        </a:solidFill>
        <a:ln w="12700" cap="flat">
          <a:solidFill>
            <a:srgbClr val="FFF8F5"/>
          </a:solidFill>
        </a:ln>
        <a:effectLst/>
      </c:spPr>
    </c:plotArea>
    <c:plotVisOnly val="1"/>
    <c:dispBlanksAs val="span"/>
  </c:chart>
  <c:spPr>
    <a:solidFill>
      <a:srgbClr val="FFF8F5"/>
    </a:solidFill>
    <a:ln w="12700" cap="flat">
      <a:solidFill>
        <a:srgbClr val="FFF8F5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FA02 · 分析工作流; user screenshots 2026-10-03; source https://mp.weixin.qq.com/s/S6rDe9YA3Ijo5Au45Z5p9g. All data synthetic. Theme reference-red. Waterfalls are native shapes, not Excel-linked charts. Standard charts and tables are native. Layout inference Provisional, user acceptance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FA03 · 总览与现金桥; user screenshots 2026-10-03; source https://mp.weixin.qq.com/s/S6rDe9YA3Ijo5Au45Z5p9g. All data synthetic. Theme reference-red. Waterfalls are native shapes, not Excel-linked charts. Standard charts and tables are native. Layout inference Provisional, user acceptance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FA04 · 主因拆解; user screenshots 2026-10-03; source https://mp.weixin.qq.com/s/S6rDe9YA3Ijo5Au45Z5p9g. All data synthetic. Theme reference-red. Waterfalls are native shapes, not Excel-linked charts. Standard charts and tables are native. Layout inference Provisional, user acceptance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FA05 · 投入与产出; user screenshots 2026-10-03; source https://mp.weixin.qq.com/s/S6rDe9YA3Ijo5Au45Z5p9g. All data synthetic. Theme reference-red. Waterfalls are native shapes, not Excel-linked charts. Standard charts and tables are native. Layout inference Provisional, user acceptance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FA06 · 渠道与净变化; user screenshots 2026-10-03; source https://mp.weixin.qq.com/s/S6rDe9YA3Ijo5Au45Z5p9g. All data synthetic. Theme reference-red. Waterfalls are native shapes, not Excel-linked charts. Standard charts and tables are native. Layout inference Provisional, user acceptance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FA07 · 增长与现金压力; user screenshots 2026-10-03; source https://mp.weixin.qq.com/s/S6rDe9YA3Ijo5Au45Z5p9g. All data synthetic. Theme reference-red. Waterfalls are native shapes, not Excel-linked charts. Standard charts and tables are native. Layout inference Provisional, user acceptance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FA08 · 结构与效率; user screenshots 2026-10-03; source https://mp.weixin.qq.com/s/S6rDe9YA3Ijo5Au45Z5p9g. All data synthetic. Theme reference-red. Waterfalls are native shapes, not Excel-linked charts. Standard charts and tables are native. Layout inference Provisional, user acceptance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FA09 · 预测与情景; user screenshots 2026-10-03; source https://mp.weixin.qq.com/s/S6rDe9YA3Ijo5Au45Z5p9g. All data synthetic. Theme reference-red. Waterfalls are native shapes, not Excel-linked charts. Standard charts and tables are native. Layout inference Provisional, user acceptance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FA10 · 措施与改善; user screenshots 2026-10-03; source https://mp.weixin.qq.com/s/S6rDe9YA3Ijo5Au45Z5p9g. All data synthetic. Theme reference-red. Waterfalls are native shapes, not Excel-linked charts. Standard charts and tables are native. Layout inference Provisional, user acceptance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438912"/>
            <a:ext cx="41148" cy="365760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262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现金分析要从数字变化走到业务行动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9509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30" kern="0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FA02 · 分析工作流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502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01 / 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7512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版式样张｜合成演示数据，非真实经营结果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参考图·红灰对照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143560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每一步都交付一个可供下一步使用的结果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685800" y="27706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判断阶段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85800" y="3346704"/>
            <a:ext cx="1783080" cy="0"/>
          </a:xfrm>
          <a:prstGeom prst="line">
            <a:avLst/>
          </a:prstGeom>
          <a:noFill/>
          <a:ln w="12700">
            <a:solidFill>
              <a:srgbClr val="E1D6D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7033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识别增长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与回款节奏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5800" y="4718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输出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5047488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阶段判断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359152" y="226771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6797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880360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2880360" y="27706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看清结构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2880360" y="3346704"/>
            <a:ext cx="1783080" cy="0"/>
          </a:xfrm>
          <a:prstGeom prst="line">
            <a:avLst/>
          </a:prstGeom>
          <a:noFill/>
          <a:ln w="12700">
            <a:solidFill>
              <a:srgbClr val="E1D6D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880360" y="37033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拆解资产、负债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与现金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880360" y="4718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输出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880360" y="5047488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关键结构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553712" y="226771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6797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074920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700" dirty="0"/>
          </a:p>
        </p:txBody>
      </p:sp>
      <p:sp>
        <p:nvSpPr>
          <p:cNvPr id="25" name="Text 22"/>
          <p:cNvSpPr/>
          <p:nvPr/>
        </p:nvSpPr>
        <p:spPr>
          <a:xfrm>
            <a:off x="5074920" y="27706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定位变化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5074920" y="3346704"/>
            <a:ext cx="1783080" cy="0"/>
          </a:xfrm>
          <a:prstGeom prst="line">
            <a:avLst/>
          </a:prstGeom>
          <a:noFill/>
          <a:ln w="12700">
            <a:solidFill>
              <a:srgbClr val="E1D6D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74920" y="37033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区分经营、投资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与融资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074920" y="4718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输出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074920" y="5047488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变化来源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748272" y="226771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6797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7269480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700" dirty="0"/>
          </a:p>
        </p:txBody>
      </p:sp>
      <p:sp>
        <p:nvSpPr>
          <p:cNvPr id="32" name="Text 29"/>
          <p:cNvSpPr/>
          <p:nvPr/>
        </p:nvSpPr>
        <p:spPr>
          <a:xfrm>
            <a:off x="7269480" y="27706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解释原因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7269480" y="3346704"/>
            <a:ext cx="1783080" cy="0"/>
          </a:xfrm>
          <a:prstGeom prst="line">
            <a:avLst/>
          </a:prstGeom>
          <a:noFill/>
          <a:ln w="12700">
            <a:solidFill>
              <a:srgbClr val="E1D6D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269480" y="37033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与业务核对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事件和条件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269480" y="4718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输出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269480" y="5047488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业务解释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942832" y="226771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6797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→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9464040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700" dirty="0"/>
          </a:p>
        </p:txBody>
      </p:sp>
      <p:sp>
        <p:nvSpPr>
          <p:cNvPr id="39" name="Text 36"/>
          <p:cNvSpPr/>
          <p:nvPr/>
        </p:nvSpPr>
        <p:spPr>
          <a:xfrm>
            <a:off x="9464040" y="27706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明确行动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9464040" y="3346704"/>
            <a:ext cx="1783080" cy="0"/>
          </a:xfrm>
          <a:prstGeom prst="line">
            <a:avLst/>
          </a:prstGeom>
          <a:noFill/>
          <a:ln w="12700">
            <a:solidFill>
              <a:srgbClr val="E1D6D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464040" y="37033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确定责任、时点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和验收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9464040" y="4718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输出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9464040" y="5047488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行动清单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58368" y="5925312"/>
            <a:ext cx="10863072" cy="402336"/>
          </a:xfrm>
          <a:prstGeom prst="rect">
            <a:avLst/>
          </a:prstGeom>
          <a:solidFill>
            <a:srgbClr val="F3E6E2"/>
          </a:solidFill>
          <a:ln w="12700">
            <a:solidFill>
              <a:srgbClr val="F3E6E2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58368" y="5925312"/>
            <a:ext cx="50292" cy="4023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13816" y="59618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财务与业务共同解释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3931920" y="597103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先看变化，再确认原因，最后落实责任与动作。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438912"/>
            <a:ext cx="41148" cy="365760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262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收入增长，仍需检查现金是否同步改善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9509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30" kern="0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FA03 · 总览与现金桥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502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02 / 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10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721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133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营业收入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72.0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24414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98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09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21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利润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963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9.0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42702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886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97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709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51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销售收现率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251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94%</a:t>
            </a:r>
            <a:endParaRPr lang="en-US" sz="2500" dirty="0"/>
          </a:p>
        </p:txBody>
      </p:sp>
      <p:sp>
        <p:nvSpPr>
          <p:cNvPr id="26" name="Shape 24"/>
          <p:cNvSpPr/>
          <p:nvPr/>
        </p:nvSpPr>
        <p:spPr>
          <a:xfrm>
            <a:off x="60990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174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585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997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经营现金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539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79278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462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873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85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827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现金净变化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827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−2.0</a:t>
            </a:r>
            <a:endParaRPr lang="en-US" sz="2500" dirty="0"/>
          </a:p>
        </p:txBody>
      </p:sp>
      <p:sp>
        <p:nvSpPr>
          <p:cNvPr id="40" name="Shape 38"/>
          <p:cNvSpPr/>
          <p:nvPr/>
        </p:nvSpPr>
        <p:spPr>
          <a:xfrm>
            <a:off x="97566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156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750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161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573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11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期末现金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811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22.0</a:t>
            </a:r>
            <a:endParaRPr lang="en-US" sz="2500" dirty="0"/>
          </a:p>
        </p:txBody>
      </p:sp>
      <p:sp>
        <p:nvSpPr>
          <p:cNvPr id="47" name="Shape 45"/>
          <p:cNvSpPr/>
          <p:nvPr/>
        </p:nvSpPr>
        <p:spPr>
          <a:xfrm>
            <a:off x="658368" y="2496312"/>
            <a:ext cx="10863072" cy="0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版式样张｜合成演示数据，非真实经营结果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参考图·红灰对照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76656" y="2683764"/>
            <a:ext cx="32004" cy="1737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4672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收入与经营现金趋势｜M1—M6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6355080" y="2683764"/>
            <a:ext cx="32004" cy="1737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83096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现金余额变化｜演示单位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6089904" y="2715768"/>
            <a:ext cx="0" cy="28163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graphicFrame>
        <p:nvGraphicFramePr>
          <p:cNvPr id="56" name="Chart 0" descr=""/>
          <p:cNvGraphicFramePr/>
          <p:nvPr/>
        </p:nvGraphicFramePr>
        <p:xfrm>
          <a:off x="658368" y="3026664"/>
          <a:ext cx="5285232" cy="26334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7" name="Shape 53"/>
          <p:cNvSpPr/>
          <p:nvPr/>
        </p:nvSpPr>
        <p:spPr>
          <a:xfrm>
            <a:off x="6556248" y="5129784"/>
            <a:ext cx="4800600" cy="0"/>
          </a:xfrm>
          <a:prstGeom prst="line">
            <a:avLst/>
          </a:prstGeom>
          <a:noFill/>
          <a:ln w="6350">
            <a:solidFill>
              <a:srgbClr val="E1D6D3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6281928" y="503834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6556248" y="4206240"/>
            <a:ext cx="4800600" cy="0"/>
          </a:xfrm>
          <a:prstGeom prst="line">
            <a:avLst/>
          </a:prstGeom>
          <a:noFill/>
          <a:ln w="6350">
            <a:solidFill>
              <a:srgbClr val="E1D6D3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6281928" y="41148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20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6786677" y="4021531"/>
            <a:ext cx="499262" cy="1108253"/>
          </a:xfrm>
          <a:prstGeom prst="rect">
            <a:avLst/>
          </a:prstGeom>
          <a:solidFill>
            <a:srgbClr val="8A151B"/>
          </a:solidFill>
          <a:ln w="12700">
            <a:solidFill>
              <a:srgbClr val="8A151B">
                <a:alpha val="0"/>
              </a:srgbClr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6676949" y="3747211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24.0</a:t>
            </a:r>
            <a:endParaRPr lang="en-US" sz="1200" dirty="0"/>
          </a:p>
        </p:txBody>
      </p:sp>
      <p:sp>
        <p:nvSpPr>
          <p:cNvPr id="63" name="Text 59"/>
          <p:cNvSpPr/>
          <p:nvPr/>
        </p:nvSpPr>
        <p:spPr>
          <a:xfrm>
            <a:off x="6519672" y="52303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期初</a:t>
            </a:r>
            <a:endParaRPr lang="en-US" sz="1100" dirty="0"/>
          </a:p>
        </p:txBody>
      </p:sp>
      <p:sp>
        <p:nvSpPr>
          <p:cNvPr id="64" name="Shape 60"/>
          <p:cNvSpPr/>
          <p:nvPr/>
        </p:nvSpPr>
        <p:spPr>
          <a:xfrm>
            <a:off x="7285939" y="4021531"/>
            <a:ext cx="460858" cy="0"/>
          </a:xfrm>
          <a:prstGeom prst="line">
            <a:avLst/>
          </a:prstGeom>
          <a:noFill/>
          <a:ln w="7620">
            <a:solidFill>
              <a:srgbClr val="B6797D"/>
            </a:solidFill>
            <a:prstDash val="dash"/>
          </a:ln>
        </p:spPr>
      </p:sp>
      <p:sp>
        <p:nvSpPr>
          <p:cNvPr id="65" name="Shape 61"/>
          <p:cNvSpPr/>
          <p:nvPr/>
        </p:nvSpPr>
        <p:spPr>
          <a:xfrm>
            <a:off x="7746797" y="3836822"/>
            <a:ext cx="499262" cy="184709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7637069" y="3562502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+4.0</a:t>
            </a:r>
            <a:endParaRPr lang="en-US" sz="1200" dirty="0"/>
          </a:p>
        </p:txBody>
      </p:sp>
      <p:sp>
        <p:nvSpPr>
          <p:cNvPr id="67" name="Text 63"/>
          <p:cNvSpPr/>
          <p:nvPr/>
        </p:nvSpPr>
        <p:spPr>
          <a:xfrm>
            <a:off x="7479792" y="52303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经营</a:t>
            </a:r>
            <a:endParaRPr lang="en-US" sz="1100" dirty="0"/>
          </a:p>
        </p:txBody>
      </p:sp>
      <p:sp>
        <p:nvSpPr>
          <p:cNvPr id="68" name="Shape 64"/>
          <p:cNvSpPr/>
          <p:nvPr/>
        </p:nvSpPr>
        <p:spPr>
          <a:xfrm>
            <a:off x="8246059" y="3836822"/>
            <a:ext cx="460858" cy="0"/>
          </a:xfrm>
          <a:prstGeom prst="line">
            <a:avLst/>
          </a:prstGeom>
          <a:noFill/>
          <a:ln w="7620">
            <a:solidFill>
              <a:srgbClr val="B6797D"/>
            </a:solidFill>
            <a:prstDash val="dash"/>
          </a:ln>
        </p:spPr>
      </p:sp>
      <p:sp>
        <p:nvSpPr>
          <p:cNvPr id="69" name="Shape 65"/>
          <p:cNvSpPr/>
          <p:nvPr/>
        </p:nvSpPr>
        <p:spPr>
          <a:xfrm>
            <a:off x="8706917" y="3836822"/>
            <a:ext cx="499262" cy="415595"/>
          </a:xfrm>
          <a:prstGeom prst="rect">
            <a:avLst/>
          </a:prstGeom>
          <a:solidFill>
            <a:srgbClr val="C9C7C5"/>
          </a:solidFill>
          <a:ln w="12700">
            <a:solidFill>
              <a:srgbClr val="C9C7C5">
                <a:alpha val="0"/>
              </a:srgbClr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8597189" y="3562502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-9.0</a:t>
            </a:r>
            <a:endParaRPr lang="en-US" sz="1200" dirty="0"/>
          </a:p>
        </p:txBody>
      </p:sp>
      <p:sp>
        <p:nvSpPr>
          <p:cNvPr id="71" name="Text 67"/>
          <p:cNvSpPr/>
          <p:nvPr/>
        </p:nvSpPr>
        <p:spPr>
          <a:xfrm>
            <a:off x="8439912" y="52303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投资</a:t>
            </a:r>
            <a:endParaRPr lang="en-US" sz="1100" dirty="0"/>
          </a:p>
        </p:txBody>
      </p:sp>
      <p:sp>
        <p:nvSpPr>
          <p:cNvPr id="72" name="Shape 68"/>
          <p:cNvSpPr/>
          <p:nvPr/>
        </p:nvSpPr>
        <p:spPr>
          <a:xfrm>
            <a:off x="9206179" y="4252417"/>
            <a:ext cx="460858" cy="0"/>
          </a:xfrm>
          <a:prstGeom prst="line">
            <a:avLst/>
          </a:prstGeom>
          <a:noFill/>
          <a:ln w="7620">
            <a:solidFill>
              <a:srgbClr val="B6797D"/>
            </a:solidFill>
            <a:prstDash val="dash"/>
          </a:ln>
        </p:spPr>
      </p:sp>
      <p:sp>
        <p:nvSpPr>
          <p:cNvPr id="73" name="Shape 69"/>
          <p:cNvSpPr/>
          <p:nvPr/>
        </p:nvSpPr>
        <p:spPr>
          <a:xfrm>
            <a:off x="9667037" y="4113886"/>
            <a:ext cx="499262" cy="138532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9557309" y="3839566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+3.0</a:t>
            </a:r>
            <a:endParaRPr lang="en-US" sz="1200" dirty="0"/>
          </a:p>
        </p:txBody>
      </p:sp>
      <p:sp>
        <p:nvSpPr>
          <p:cNvPr id="75" name="Text 71"/>
          <p:cNvSpPr/>
          <p:nvPr/>
        </p:nvSpPr>
        <p:spPr>
          <a:xfrm>
            <a:off x="9400032" y="52303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融资</a:t>
            </a:r>
            <a:endParaRPr lang="en-US" sz="1100" dirty="0"/>
          </a:p>
        </p:txBody>
      </p:sp>
      <p:sp>
        <p:nvSpPr>
          <p:cNvPr id="76" name="Shape 72"/>
          <p:cNvSpPr/>
          <p:nvPr/>
        </p:nvSpPr>
        <p:spPr>
          <a:xfrm>
            <a:off x="10166299" y="4113886"/>
            <a:ext cx="460858" cy="0"/>
          </a:xfrm>
          <a:prstGeom prst="line">
            <a:avLst/>
          </a:prstGeom>
          <a:noFill/>
          <a:ln w="7620">
            <a:solidFill>
              <a:srgbClr val="B6797D"/>
            </a:solidFill>
            <a:prstDash val="dash"/>
          </a:ln>
        </p:spPr>
      </p:sp>
      <p:sp>
        <p:nvSpPr>
          <p:cNvPr id="77" name="Shape 73"/>
          <p:cNvSpPr/>
          <p:nvPr/>
        </p:nvSpPr>
        <p:spPr>
          <a:xfrm>
            <a:off x="10627157" y="4113886"/>
            <a:ext cx="499262" cy="1015898"/>
          </a:xfrm>
          <a:prstGeom prst="rect">
            <a:avLst/>
          </a:prstGeom>
          <a:solidFill>
            <a:srgbClr val="8A151B"/>
          </a:solidFill>
          <a:ln w="12700">
            <a:solidFill>
              <a:srgbClr val="8A151B">
                <a:alpha val="0"/>
              </a:srgbClr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10517429" y="3839566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22.0</a:t>
            </a:r>
            <a:endParaRPr lang="en-US" sz="1200" dirty="0"/>
          </a:p>
        </p:txBody>
      </p:sp>
      <p:sp>
        <p:nvSpPr>
          <p:cNvPr id="79" name="Text 75"/>
          <p:cNvSpPr/>
          <p:nvPr/>
        </p:nvSpPr>
        <p:spPr>
          <a:xfrm>
            <a:off x="10360152" y="52303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期末</a:t>
            </a:r>
            <a:endParaRPr lang="en-US" sz="1100" dirty="0"/>
          </a:p>
        </p:txBody>
      </p:sp>
      <p:sp>
        <p:nvSpPr>
          <p:cNvPr id="80" name="Shape 76"/>
          <p:cNvSpPr/>
          <p:nvPr/>
        </p:nvSpPr>
        <p:spPr>
          <a:xfrm>
            <a:off x="658368" y="5925312"/>
            <a:ext cx="10863072" cy="402336"/>
          </a:xfrm>
          <a:prstGeom prst="rect">
            <a:avLst/>
          </a:prstGeom>
          <a:solidFill>
            <a:srgbClr val="F3E6E2"/>
          </a:solidFill>
          <a:ln w="12700">
            <a:solidFill>
              <a:srgbClr val="F3E6E2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658368" y="5925312"/>
            <a:ext cx="50292" cy="4023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813816" y="59618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增长不等于现金改善</a:t>
            </a:r>
            <a:endParaRPr lang="en-US" sz="1300" dirty="0"/>
          </a:p>
        </p:txBody>
      </p:sp>
      <p:sp>
        <p:nvSpPr>
          <p:cNvPr id="83" name="Text 79"/>
          <p:cNvSpPr/>
          <p:nvPr/>
        </p:nvSpPr>
        <p:spPr>
          <a:xfrm>
            <a:off x="3931920" y="597103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用趋势看背离，用现金桥说明经营、投资和融资的贡献。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438912"/>
            <a:ext cx="41148" cy="365760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262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应收与库存增加，需要拆开看资金占用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9509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30" kern="0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FA04 · 主因拆解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502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03 / 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10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721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133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利润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9.0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24414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98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09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21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非现金调整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963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2.0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42702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886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97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709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51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应收增加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251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5.0</a:t>
            </a:r>
            <a:endParaRPr lang="en-US" sz="2500" dirty="0"/>
          </a:p>
        </p:txBody>
      </p:sp>
      <p:sp>
        <p:nvSpPr>
          <p:cNvPr id="26" name="Shape 24"/>
          <p:cNvSpPr/>
          <p:nvPr/>
        </p:nvSpPr>
        <p:spPr>
          <a:xfrm>
            <a:off x="60990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174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585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997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库存增加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539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6.0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79278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462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873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85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827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应付增加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827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</a:t>
            </a:r>
            <a:endParaRPr lang="en-US" sz="2500" dirty="0"/>
          </a:p>
        </p:txBody>
      </p:sp>
      <p:sp>
        <p:nvSpPr>
          <p:cNvPr id="40" name="Shape 38"/>
          <p:cNvSpPr/>
          <p:nvPr/>
        </p:nvSpPr>
        <p:spPr>
          <a:xfrm>
            <a:off x="97566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156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750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161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573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11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经营现金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811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</a:t>
            </a:r>
            <a:endParaRPr lang="en-US" sz="2500" dirty="0"/>
          </a:p>
        </p:txBody>
      </p:sp>
      <p:sp>
        <p:nvSpPr>
          <p:cNvPr id="47" name="Shape 45"/>
          <p:cNvSpPr/>
          <p:nvPr/>
        </p:nvSpPr>
        <p:spPr>
          <a:xfrm>
            <a:off x="658368" y="2496312"/>
            <a:ext cx="10863072" cy="0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版式样张｜合成演示数据，非真实经营结果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参考图·红灰对照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76656" y="2683764"/>
            <a:ext cx="32004" cy="1737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4672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利润到经营现金｜演示单位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868680" y="5074920"/>
            <a:ext cx="5074920" cy="0"/>
          </a:xfrm>
          <a:prstGeom prst="line">
            <a:avLst/>
          </a:prstGeom>
          <a:noFill/>
          <a:ln w="6350">
            <a:solidFill>
              <a:srgbClr val="E1D6D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94360" y="498348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868680" y="4206240"/>
            <a:ext cx="5074920" cy="0"/>
          </a:xfrm>
          <a:prstGeom prst="line">
            <a:avLst/>
          </a:prstGeom>
          <a:noFill/>
          <a:ln w="6350">
            <a:solidFill>
              <a:srgbClr val="E1D6D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94360" y="41148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10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1071677" y="4293108"/>
            <a:ext cx="439826" cy="781812"/>
          </a:xfrm>
          <a:prstGeom prst="rect">
            <a:avLst/>
          </a:prstGeom>
          <a:solidFill>
            <a:srgbClr val="8A151B"/>
          </a:solidFill>
          <a:ln w="12700">
            <a:solidFill>
              <a:srgbClr val="8A151B">
                <a:alpha val="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61949" y="4018788"/>
            <a:ext cx="6592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9.0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832104" y="5175504"/>
            <a:ext cx="9189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利润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1511503" y="4293108"/>
            <a:ext cx="405994" cy="0"/>
          </a:xfrm>
          <a:prstGeom prst="line">
            <a:avLst/>
          </a:prstGeom>
          <a:noFill/>
          <a:ln w="7620">
            <a:solidFill>
              <a:srgbClr val="B6797D"/>
            </a:solidFill>
            <a:prstDash val="dash"/>
          </a:ln>
        </p:spPr>
      </p:sp>
      <p:sp>
        <p:nvSpPr>
          <p:cNvPr id="61" name="Shape 58"/>
          <p:cNvSpPr/>
          <p:nvPr/>
        </p:nvSpPr>
        <p:spPr>
          <a:xfrm>
            <a:off x="1917497" y="4119372"/>
            <a:ext cx="439826" cy="1737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807769" y="3845052"/>
            <a:ext cx="6592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+2.0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1677924" y="5175504"/>
            <a:ext cx="9189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非现金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2357323" y="4119372"/>
            <a:ext cx="405994" cy="0"/>
          </a:xfrm>
          <a:prstGeom prst="line">
            <a:avLst/>
          </a:prstGeom>
          <a:noFill/>
          <a:ln w="7620">
            <a:solidFill>
              <a:srgbClr val="B6797D"/>
            </a:solidFill>
            <a:prstDash val="dash"/>
          </a:ln>
        </p:spPr>
      </p:sp>
      <p:sp>
        <p:nvSpPr>
          <p:cNvPr id="65" name="Shape 62"/>
          <p:cNvSpPr/>
          <p:nvPr/>
        </p:nvSpPr>
        <p:spPr>
          <a:xfrm>
            <a:off x="2763317" y="4119372"/>
            <a:ext cx="439826" cy="434340"/>
          </a:xfrm>
          <a:prstGeom prst="rect">
            <a:avLst/>
          </a:prstGeom>
          <a:solidFill>
            <a:srgbClr val="C9C7C5"/>
          </a:solidFill>
          <a:ln w="12700">
            <a:solidFill>
              <a:srgbClr val="C9C7C5">
                <a:alpha val="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2653589" y="3845052"/>
            <a:ext cx="6592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-5.0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2523744" y="5175504"/>
            <a:ext cx="9189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应收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3203143" y="4553712"/>
            <a:ext cx="405994" cy="0"/>
          </a:xfrm>
          <a:prstGeom prst="line">
            <a:avLst/>
          </a:prstGeom>
          <a:noFill/>
          <a:ln w="7620">
            <a:solidFill>
              <a:srgbClr val="B6797D"/>
            </a:solidFill>
            <a:prstDash val="dash"/>
          </a:ln>
        </p:spPr>
      </p:sp>
      <p:sp>
        <p:nvSpPr>
          <p:cNvPr id="69" name="Shape 66"/>
          <p:cNvSpPr/>
          <p:nvPr/>
        </p:nvSpPr>
        <p:spPr>
          <a:xfrm>
            <a:off x="3609137" y="4553712"/>
            <a:ext cx="439826" cy="521208"/>
          </a:xfrm>
          <a:prstGeom prst="rect">
            <a:avLst/>
          </a:prstGeom>
          <a:solidFill>
            <a:srgbClr val="C9C7C5"/>
          </a:solidFill>
          <a:ln w="12700">
            <a:solidFill>
              <a:srgbClr val="C9C7C5">
                <a:alpha val="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499409" y="4279392"/>
            <a:ext cx="6592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-6.0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3369564" y="5175504"/>
            <a:ext cx="9189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库存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4048963" y="5074920"/>
            <a:ext cx="405994" cy="0"/>
          </a:xfrm>
          <a:prstGeom prst="line">
            <a:avLst/>
          </a:prstGeom>
          <a:noFill/>
          <a:ln w="7620">
            <a:solidFill>
              <a:srgbClr val="B6797D"/>
            </a:solidFill>
            <a:prstDash val="dash"/>
          </a:ln>
        </p:spPr>
      </p:sp>
      <p:sp>
        <p:nvSpPr>
          <p:cNvPr id="73" name="Shape 70"/>
          <p:cNvSpPr/>
          <p:nvPr/>
        </p:nvSpPr>
        <p:spPr>
          <a:xfrm>
            <a:off x="4454957" y="4727448"/>
            <a:ext cx="439826" cy="347472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4345229" y="4453128"/>
            <a:ext cx="6592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+4.0</a:t>
            </a:r>
            <a:endParaRPr lang="en-US" sz="1200" dirty="0"/>
          </a:p>
        </p:txBody>
      </p:sp>
      <p:sp>
        <p:nvSpPr>
          <p:cNvPr id="75" name="Text 72"/>
          <p:cNvSpPr/>
          <p:nvPr/>
        </p:nvSpPr>
        <p:spPr>
          <a:xfrm>
            <a:off x="4215384" y="5175504"/>
            <a:ext cx="9189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应付</a:t>
            </a:r>
            <a:endParaRPr lang="en-US" sz="1100" dirty="0"/>
          </a:p>
        </p:txBody>
      </p:sp>
      <p:sp>
        <p:nvSpPr>
          <p:cNvPr id="76" name="Shape 73"/>
          <p:cNvSpPr/>
          <p:nvPr/>
        </p:nvSpPr>
        <p:spPr>
          <a:xfrm>
            <a:off x="4894783" y="4727448"/>
            <a:ext cx="405994" cy="0"/>
          </a:xfrm>
          <a:prstGeom prst="line">
            <a:avLst/>
          </a:prstGeom>
          <a:noFill/>
          <a:ln w="7620">
            <a:solidFill>
              <a:srgbClr val="B6797D"/>
            </a:solidFill>
            <a:prstDash val="dash"/>
          </a:ln>
        </p:spPr>
      </p:sp>
      <p:sp>
        <p:nvSpPr>
          <p:cNvPr id="77" name="Shape 74"/>
          <p:cNvSpPr/>
          <p:nvPr/>
        </p:nvSpPr>
        <p:spPr>
          <a:xfrm>
            <a:off x="5300777" y="4727448"/>
            <a:ext cx="439826" cy="347472"/>
          </a:xfrm>
          <a:prstGeom prst="rect">
            <a:avLst/>
          </a:prstGeom>
          <a:solidFill>
            <a:srgbClr val="8A151B"/>
          </a:solidFill>
          <a:ln w="12700">
            <a:solidFill>
              <a:srgbClr val="8A151B">
                <a:alpha val="0"/>
              </a:srgbClr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191049" y="4453128"/>
            <a:ext cx="6592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</a:t>
            </a:r>
            <a:endParaRPr lang="en-US" sz="1200" dirty="0"/>
          </a:p>
        </p:txBody>
      </p:sp>
      <p:sp>
        <p:nvSpPr>
          <p:cNvPr id="79" name="Text 76"/>
          <p:cNvSpPr/>
          <p:nvPr/>
        </p:nvSpPr>
        <p:spPr>
          <a:xfrm>
            <a:off x="5061204" y="5175504"/>
            <a:ext cx="9189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现金</a:t>
            </a:r>
            <a:endParaRPr lang="en-US" sz="1100" dirty="0"/>
          </a:p>
        </p:txBody>
      </p:sp>
      <p:sp>
        <p:nvSpPr>
          <p:cNvPr id="80" name="Shape 77"/>
          <p:cNvSpPr/>
          <p:nvPr/>
        </p:nvSpPr>
        <p:spPr>
          <a:xfrm>
            <a:off x="6208776" y="2706624"/>
            <a:ext cx="0" cy="2926080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6437376" y="2683764"/>
            <a:ext cx="32004" cy="1737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6565392" y="2651760"/>
            <a:ext cx="4892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库存结构｜前期 / 本期</a:t>
            </a:r>
            <a:endParaRPr lang="en-US" sz="1400" dirty="0"/>
          </a:p>
        </p:txBody>
      </p:sp>
      <p:sp>
        <p:nvSpPr>
          <p:cNvPr id="83" name="Shape 80"/>
          <p:cNvSpPr/>
          <p:nvPr/>
        </p:nvSpPr>
        <p:spPr>
          <a:xfrm>
            <a:off x="6565392" y="3008376"/>
            <a:ext cx="82296" cy="82296"/>
          </a:xfrm>
          <a:prstGeom prst="rect">
            <a:avLst/>
          </a:prstGeom>
          <a:solidFill>
            <a:srgbClr val="8A151B"/>
          </a:solidFill>
          <a:ln w="12700">
            <a:solidFill>
              <a:srgbClr val="8A151B">
                <a:alpha val="0"/>
              </a:srgbClr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6702552" y="2971800"/>
            <a:ext cx="1033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原材料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7845552" y="3008376"/>
            <a:ext cx="82296" cy="82296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>
                <a:alpha val="0"/>
              </a:srgbClr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7982712" y="2971800"/>
            <a:ext cx="1033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在产品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9125712" y="3008376"/>
            <a:ext cx="82296" cy="82296"/>
          </a:xfrm>
          <a:prstGeom prst="rect">
            <a:avLst/>
          </a:prstGeom>
          <a:solidFill>
            <a:srgbClr val="9C713A"/>
          </a:solidFill>
          <a:ln w="12700">
            <a:solidFill>
              <a:srgbClr val="9C713A">
                <a:alpha val="0"/>
              </a:srgbClr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9262872" y="2971800"/>
            <a:ext cx="1033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产成品</a:t>
            </a:r>
            <a:endParaRPr lang="en-US" sz="1000" dirty="0"/>
          </a:p>
        </p:txBody>
      </p:sp>
      <p:graphicFrame>
        <p:nvGraphicFramePr>
          <p:cNvPr id="89" name="Chart 0" descr=""/>
          <p:cNvGraphicFramePr/>
          <p:nvPr/>
        </p:nvGraphicFramePr>
        <p:xfrm>
          <a:off x="6419088" y="3227832"/>
          <a:ext cx="5093208" cy="8961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0" name="Shape 86"/>
          <p:cNvSpPr/>
          <p:nvPr/>
        </p:nvSpPr>
        <p:spPr>
          <a:xfrm>
            <a:off x="6437376" y="4210812"/>
            <a:ext cx="32004" cy="1737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6565392" y="4178808"/>
            <a:ext cx="4892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投资支出排名｜演示单位</a:t>
            </a:r>
            <a:endParaRPr lang="en-US" sz="1400" dirty="0"/>
          </a:p>
        </p:txBody>
      </p:sp>
      <p:graphicFrame>
        <p:nvGraphicFramePr>
          <p:cNvPr id="92" name="Chart 1" descr=""/>
          <p:cNvGraphicFramePr/>
          <p:nvPr/>
        </p:nvGraphicFramePr>
        <p:xfrm>
          <a:off x="6400800" y="4507992"/>
          <a:ext cx="5093208" cy="10881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3" name="Shape 88"/>
          <p:cNvSpPr/>
          <p:nvPr/>
        </p:nvSpPr>
        <p:spPr>
          <a:xfrm>
            <a:off x="658368" y="5925312"/>
            <a:ext cx="10863072" cy="402336"/>
          </a:xfrm>
          <a:prstGeom prst="rect">
            <a:avLst/>
          </a:prstGeom>
          <a:solidFill>
            <a:srgbClr val="F3E6E2"/>
          </a:solidFill>
          <a:ln w="12700">
            <a:solidFill>
              <a:srgbClr val="F3E6E2">
                <a:alpha val="0"/>
              </a:srgbClr>
            </a:solidFill>
            <a:prstDash val="solid"/>
          </a:ln>
        </p:spPr>
      </p:sp>
      <p:sp>
        <p:nvSpPr>
          <p:cNvPr id="94" name="Shape 89"/>
          <p:cNvSpPr/>
          <p:nvPr/>
        </p:nvSpPr>
        <p:spPr>
          <a:xfrm>
            <a:off x="658368" y="5925312"/>
            <a:ext cx="50292" cy="4023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95" name="Text 90"/>
          <p:cNvSpPr/>
          <p:nvPr/>
        </p:nvSpPr>
        <p:spPr>
          <a:xfrm>
            <a:off x="813816" y="59618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从总额继续追到结构</a:t>
            </a:r>
            <a:endParaRPr lang="en-US" sz="1300" dirty="0"/>
          </a:p>
        </p:txBody>
      </p:sp>
      <p:sp>
        <p:nvSpPr>
          <p:cNvPr id="96" name="Text 91"/>
          <p:cNvSpPr/>
          <p:nvPr/>
        </p:nvSpPr>
        <p:spPr>
          <a:xfrm>
            <a:off x="3931920" y="597103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本页为密集阅读版式；现场投影建议拆成两页。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438912"/>
            <a:ext cx="41148" cy="365760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262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投入与产出存在时差，付款需匹配进度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9509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30" kern="0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FA05 · 投入与产出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502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04 / 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10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721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133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资本支出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9.0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24414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98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09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21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主要设备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963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42702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886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97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709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51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厂房改造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251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2.8</a:t>
            </a:r>
            <a:endParaRPr lang="en-US" sz="2500" dirty="0"/>
          </a:p>
        </p:txBody>
      </p:sp>
      <p:sp>
        <p:nvSpPr>
          <p:cNvPr id="26" name="Shape 24"/>
          <p:cNvSpPr/>
          <p:nvPr/>
        </p:nvSpPr>
        <p:spPr>
          <a:xfrm>
            <a:off x="60990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174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585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997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产能目标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539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+20%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79278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462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873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85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827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在建投入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827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12.0</a:t>
            </a:r>
            <a:endParaRPr lang="en-US" sz="2500" dirty="0"/>
          </a:p>
        </p:txBody>
      </p:sp>
      <p:sp>
        <p:nvSpPr>
          <p:cNvPr id="40" name="Shape 38"/>
          <p:cNvSpPr/>
          <p:nvPr/>
        </p:nvSpPr>
        <p:spPr>
          <a:xfrm>
            <a:off x="97566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156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750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161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573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11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回收期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811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4年</a:t>
            </a:r>
            <a:endParaRPr lang="en-US" sz="2500" dirty="0"/>
          </a:p>
        </p:txBody>
      </p:sp>
      <p:sp>
        <p:nvSpPr>
          <p:cNvPr id="47" name="Shape 45"/>
          <p:cNvSpPr/>
          <p:nvPr/>
        </p:nvSpPr>
        <p:spPr>
          <a:xfrm>
            <a:off x="658368" y="2496312"/>
            <a:ext cx="10863072" cy="0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版式样张｜合成演示数据，非真实经营结果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参考图·红灰对照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76656" y="2683764"/>
            <a:ext cx="32004" cy="1737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4672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支出结构｜演示单位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6355080" y="2683764"/>
            <a:ext cx="32004" cy="1737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83096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月度投入与累计产能｜演示期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6089904" y="2715768"/>
            <a:ext cx="0" cy="2834640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graphicFrame>
        <p:nvGraphicFramePr>
          <p:cNvPr id="56" name="Chart 0" descr=""/>
          <p:cNvGraphicFramePr/>
          <p:nvPr/>
        </p:nvGraphicFramePr>
        <p:xfrm>
          <a:off x="676656" y="3063240"/>
          <a:ext cx="5285232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7" name="Chart 1" descr=""/>
          <p:cNvGraphicFramePr/>
          <p:nvPr/>
        </p:nvGraphicFramePr>
        <p:xfrm>
          <a:off x="6309360" y="3044952"/>
          <a:ext cx="5230368" cy="26700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8" name="Shape 53"/>
          <p:cNvSpPr/>
          <p:nvPr/>
        </p:nvSpPr>
        <p:spPr>
          <a:xfrm>
            <a:off x="658368" y="5925312"/>
            <a:ext cx="10863072" cy="402336"/>
          </a:xfrm>
          <a:prstGeom prst="rect">
            <a:avLst/>
          </a:prstGeom>
          <a:solidFill>
            <a:srgbClr val="F3E6E2"/>
          </a:solidFill>
          <a:ln w="12700">
            <a:solidFill>
              <a:srgbClr val="F3E6E2">
                <a:alpha val="0"/>
              </a:srgbClr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658368" y="5925312"/>
            <a:ext cx="50292" cy="4023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813816" y="59618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投入在前，产出在后</a:t>
            </a:r>
            <a:endParaRPr lang="en-US" sz="1300" dirty="0"/>
          </a:p>
        </p:txBody>
      </p:sp>
      <p:sp>
        <p:nvSpPr>
          <p:cNvPr id="61" name="Text 56"/>
          <p:cNvSpPr/>
          <p:nvPr/>
        </p:nvSpPr>
        <p:spPr>
          <a:xfrm>
            <a:off x="3931920" y="597103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双轴分别标注单位；实际应用须核对订单与投产条件。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438912"/>
            <a:ext cx="41148" cy="365760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262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新增资金与偿债应放在一起判断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9509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30" kern="0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FA06 · 渠道与净变化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502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05 / 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10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721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133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期初资金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12.0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24414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98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09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21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新增借款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963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6.0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42702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886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97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709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51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债券融资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251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3.0</a:t>
            </a:r>
            <a:endParaRPr lang="en-US" sz="2500" dirty="0"/>
          </a:p>
        </p:txBody>
      </p:sp>
      <p:sp>
        <p:nvSpPr>
          <p:cNvPr id="26" name="Shape 24"/>
          <p:cNvSpPr/>
          <p:nvPr/>
        </p:nvSpPr>
        <p:spPr>
          <a:xfrm>
            <a:off x="60990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174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585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997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偿债支出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539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8.0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79278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462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873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85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827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期末资金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827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13.0</a:t>
            </a:r>
            <a:endParaRPr lang="en-US" sz="2500" dirty="0"/>
          </a:p>
        </p:txBody>
      </p:sp>
      <p:sp>
        <p:nvSpPr>
          <p:cNvPr id="40" name="Shape 38"/>
          <p:cNvSpPr/>
          <p:nvPr/>
        </p:nvSpPr>
        <p:spPr>
          <a:xfrm>
            <a:off x="97566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156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750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161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573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11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净变化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811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+1.0</a:t>
            </a:r>
            <a:endParaRPr lang="en-US" sz="2500" dirty="0"/>
          </a:p>
        </p:txBody>
      </p:sp>
      <p:sp>
        <p:nvSpPr>
          <p:cNvPr id="47" name="Shape 45"/>
          <p:cNvSpPr/>
          <p:nvPr/>
        </p:nvSpPr>
        <p:spPr>
          <a:xfrm>
            <a:off x="658368" y="2496312"/>
            <a:ext cx="10863072" cy="0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版式样张｜合成演示数据，非真实经营结果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参考图·红灰对照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76656" y="2683764"/>
            <a:ext cx="32004" cy="1737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4672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融资渠道结构｜演示单位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6355080" y="2683764"/>
            <a:ext cx="32004" cy="1737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83096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资金净变化桥｜演示单位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6089904" y="2715768"/>
            <a:ext cx="0" cy="2834640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graphicFrame>
        <p:nvGraphicFramePr>
          <p:cNvPr id="56" name="Chart 0" descr=""/>
          <p:cNvGraphicFramePr/>
          <p:nvPr/>
        </p:nvGraphicFramePr>
        <p:xfrm>
          <a:off x="676656" y="3063240"/>
          <a:ext cx="5285232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7" name="Shape 53"/>
          <p:cNvSpPr/>
          <p:nvPr/>
        </p:nvSpPr>
        <p:spPr>
          <a:xfrm>
            <a:off x="6556248" y="5129784"/>
            <a:ext cx="4800600" cy="0"/>
          </a:xfrm>
          <a:prstGeom prst="line">
            <a:avLst/>
          </a:prstGeom>
          <a:noFill/>
          <a:ln w="6350">
            <a:solidFill>
              <a:srgbClr val="E1D6D3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6281928" y="503834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6556248" y="4215384"/>
            <a:ext cx="4800600" cy="0"/>
          </a:xfrm>
          <a:prstGeom prst="line">
            <a:avLst/>
          </a:prstGeom>
          <a:noFill/>
          <a:ln w="6350">
            <a:solidFill>
              <a:srgbClr val="E1D6D3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6281928" y="412394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15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6786677" y="4398264"/>
            <a:ext cx="499262" cy="731520"/>
          </a:xfrm>
          <a:prstGeom prst="rect">
            <a:avLst/>
          </a:prstGeom>
          <a:solidFill>
            <a:srgbClr val="8A151B"/>
          </a:solidFill>
          <a:ln w="12700">
            <a:solidFill>
              <a:srgbClr val="8A151B">
                <a:alpha val="0"/>
              </a:srgbClr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6676949" y="4123944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12.0</a:t>
            </a:r>
            <a:endParaRPr lang="en-US" sz="1200" dirty="0"/>
          </a:p>
        </p:txBody>
      </p:sp>
      <p:sp>
        <p:nvSpPr>
          <p:cNvPr id="63" name="Text 59"/>
          <p:cNvSpPr/>
          <p:nvPr/>
        </p:nvSpPr>
        <p:spPr>
          <a:xfrm>
            <a:off x="6519672" y="52303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期初</a:t>
            </a:r>
            <a:endParaRPr lang="en-US" sz="1100" dirty="0"/>
          </a:p>
        </p:txBody>
      </p:sp>
      <p:sp>
        <p:nvSpPr>
          <p:cNvPr id="64" name="Shape 60"/>
          <p:cNvSpPr/>
          <p:nvPr/>
        </p:nvSpPr>
        <p:spPr>
          <a:xfrm>
            <a:off x="7285939" y="4398264"/>
            <a:ext cx="460858" cy="0"/>
          </a:xfrm>
          <a:prstGeom prst="line">
            <a:avLst/>
          </a:prstGeom>
          <a:noFill/>
          <a:ln w="7620">
            <a:solidFill>
              <a:srgbClr val="B6797D"/>
            </a:solidFill>
            <a:prstDash val="dash"/>
          </a:ln>
        </p:spPr>
      </p:sp>
      <p:sp>
        <p:nvSpPr>
          <p:cNvPr id="65" name="Shape 61"/>
          <p:cNvSpPr/>
          <p:nvPr/>
        </p:nvSpPr>
        <p:spPr>
          <a:xfrm>
            <a:off x="7746797" y="4032504"/>
            <a:ext cx="499262" cy="365760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7637069" y="3758184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+6.0</a:t>
            </a:r>
            <a:endParaRPr lang="en-US" sz="1200" dirty="0"/>
          </a:p>
        </p:txBody>
      </p:sp>
      <p:sp>
        <p:nvSpPr>
          <p:cNvPr id="67" name="Text 63"/>
          <p:cNvSpPr/>
          <p:nvPr/>
        </p:nvSpPr>
        <p:spPr>
          <a:xfrm>
            <a:off x="7479792" y="52303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借款</a:t>
            </a:r>
            <a:endParaRPr lang="en-US" sz="1100" dirty="0"/>
          </a:p>
        </p:txBody>
      </p:sp>
      <p:sp>
        <p:nvSpPr>
          <p:cNvPr id="68" name="Shape 64"/>
          <p:cNvSpPr/>
          <p:nvPr/>
        </p:nvSpPr>
        <p:spPr>
          <a:xfrm>
            <a:off x="8246059" y="4032504"/>
            <a:ext cx="460858" cy="0"/>
          </a:xfrm>
          <a:prstGeom prst="line">
            <a:avLst/>
          </a:prstGeom>
          <a:noFill/>
          <a:ln w="7620">
            <a:solidFill>
              <a:srgbClr val="B6797D"/>
            </a:solidFill>
            <a:prstDash val="dash"/>
          </a:ln>
        </p:spPr>
      </p:sp>
      <p:sp>
        <p:nvSpPr>
          <p:cNvPr id="69" name="Shape 65"/>
          <p:cNvSpPr/>
          <p:nvPr/>
        </p:nvSpPr>
        <p:spPr>
          <a:xfrm>
            <a:off x="8706917" y="3849624"/>
            <a:ext cx="499262" cy="182880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8597189" y="3575304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+3.0</a:t>
            </a:r>
            <a:endParaRPr lang="en-US" sz="1200" dirty="0"/>
          </a:p>
        </p:txBody>
      </p:sp>
      <p:sp>
        <p:nvSpPr>
          <p:cNvPr id="71" name="Text 67"/>
          <p:cNvSpPr/>
          <p:nvPr/>
        </p:nvSpPr>
        <p:spPr>
          <a:xfrm>
            <a:off x="8439912" y="52303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债券</a:t>
            </a:r>
            <a:endParaRPr lang="en-US" sz="1100" dirty="0"/>
          </a:p>
        </p:txBody>
      </p:sp>
      <p:sp>
        <p:nvSpPr>
          <p:cNvPr id="72" name="Shape 68"/>
          <p:cNvSpPr/>
          <p:nvPr/>
        </p:nvSpPr>
        <p:spPr>
          <a:xfrm>
            <a:off x="9206179" y="3849624"/>
            <a:ext cx="460858" cy="0"/>
          </a:xfrm>
          <a:prstGeom prst="line">
            <a:avLst/>
          </a:prstGeom>
          <a:noFill/>
          <a:ln w="7620">
            <a:solidFill>
              <a:srgbClr val="B6797D"/>
            </a:solidFill>
            <a:prstDash val="dash"/>
          </a:ln>
        </p:spPr>
      </p:sp>
      <p:sp>
        <p:nvSpPr>
          <p:cNvPr id="73" name="Shape 69"/>
          <p:cNvSpPr/>
          <p:nvPr/>
        </p:nvSpPr>
        <p:spPr>
          <a:xfrm>
            <a:off x="9667037" y="3849624"/>
            <a:ext cx="499262" cy="487680"/>
          </a:xfrm>
          <a:prstGeom prst="rect">
            <a:avLst/>
          </a:prstGeom>
          <a:solidFill>
            <a:srgbClr val="C9C7C5"/>
          </a:solidFill>
          <a:ln w="12700">
            <a:solidFill>
              <a:srgbClr val="C9C7C5">
                <a:alpha val="0"/>
              </a:srgbClr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9557309" y="3575304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-8.0</a:t>
            </a:r>
            <a:endParaRPr lang="en-US" sz="1200" dirty="0"/>
          </a:p>
        </p:txBody>
      </p:sp>
      <p:sp>
        <p:nvSpPr>
          <p:cNvPr id="75" name="Text 71"/>
          <p:cNvSpPr/>
          <p:nvPr/>
        </p:nvSpPr>
        <p:spPr>
          <a:xfrm>
            <a:off x="9400032" y="52303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还款</a:t>
            </a:r>
            <a:endParaRPr lang="en-US" sz="1100" dirty="0"/>
          </a:p>
        </p:txBody>
      </p:sp>
      <p:sp>
        <p:nvSpPr>
          <p:cNvPr id="76" name="Shape 72"/>
          <p:cNvSpPr/>
          <p:nvPr/>
        </p:nvSpPr>
        <p:spPr>
          <a:xfrm>
            <a:off x="10166299" y="4337304"/>
            <a:ext cx="460858" cy="0"/>
          </a:xfrm>
          <a:prstGeom prst="line">
            <a:avLst/>
          </a:prstGeom>
          <a:noFill/>
          <a:ln w="7620">
            <a:solidFill>
              <a:srgbClr val="B6797D"/>
            </a:solidFill>
            <a:prstDash val="dash"/>
          </a:ln>
        </p:spPr>
      </p:sp>
      <p:sp>
        <p:nvSpPr>
          <p:cNvPr id="77" name="Shape 73"/>
          <p:cNvSpPr/>
          <p:nvPr/>
        </p:nvSpPr>
        <p:spPr>
          <a:xfrm>
            <a:off x="10627157" y="4337304"/>
            <a:ext cx="499262" cy="792480"/>
          </a:xfrm>
          <a:prstGeom prst="rect">
            <a:avLst/>
          </a:prstGeom>
          <a:solidFill>
            <a:srgbClr val="8A151B"/>
          </a:solidFill>
          <a:ln w="12700">
            <a:solidFill>
              <a:srgbClr val="8A151B">
                <a:alpha val="0"/>
              </a:srgbClr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10517429" y="4062984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13.0</a:t>
            </a:r>
            <a:endParaRPr lang="en-US" sz="1200" dirty="0"/>
          </a:p>
        </p:txBody>
      </p:sp>
      <p:sp>
        <p:nvSpPr>
          <p:cNvPr id="79" name="Text 75"/>
          <p:cNvSpPr/>
          <p:nvPr/>
        </p:nvSpPr>
        <p:spPr>
          <a:xfrm>
            <a:off x="10360152" y="52303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期末</a:t>
            </a:r>
            <a:endParaRPr lang="en-US" sz="1100" dirty="0"/>
          </a:p>
        </p:txBody>
      </p:sp>
      <p:sp>
        <p:nvSpPr>
          <p:cNvPr id="80" name="Shape 76"/>
          <p:cNvSpPr/>
          <p:nvPr/>
        </p:nvSpPr>
        <p:spPr>
          <a:xfrm>
            <a:off x="658368" y="5925312"/>
            <a:ext cx="10863072" cy="402336"/>
          </a:xfrm>
          <a:prstGeom prst="rect">
            <a:avLst/>
          </a:prstGeom>
          <a:solidFill>
            <a:srgbClr val="F3E6E2"/>
          </a:solidFill>
          <a:ln w="12700">
            <a:solidFill>
              <a:srgbClr val="F3E6E2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658368" y="5925312"/>
            <a:ext cx="50292" cy="4023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813816" y="59618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看新增，也看偿还</a:t>
            </a:r>
            <a:endParaRPr lang="en-US" sz="1300" dirty="0"/>
          </a:p>
        </p:txBody>
      </p:sp>
      <p:sp>
        <p:nvSpPr>
          <p:cNvPr id="83" name="Text 79"/>
          <p:cNvSpPr/>
          <p:nvPr/>
        </p:nvSpPr>
        <p:spPr>
          <a:xfrm>
            <a:off x="3931920" y="597103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渠道金额与净现金分开呈现，避免把融资总额当成现金改善。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438912"/>
            <a:ext cx="41148" cy="365760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262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收入增长之后，还要解释现金去了哪里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9509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30" kern="0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FA07 · 增长与现金压力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502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06 / 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10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721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133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产品A收入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27.0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24414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98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09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21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产品B收入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963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18.0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42702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886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97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709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51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产品C收入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251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15.0</a:t>
            </a:r>
            <a:endParaRPr lang="en-US" sz="2500" dirty="0"/>
          </a:p>
        </p:txBody>
      </p:sp>
      <p:sp>
        <p:nvSpPr>
          <p:cNvPr id="26" name="Shape 24"/>
          <p:cNvSpPr/>
          <p:nvPr/>
        </p:nvSpPr>
        <p:spPr>
          <a:xfrm>
            <a:off x="60990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174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585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997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增量毛利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539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12.0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79278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462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873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85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827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材料支付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827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5.0</a:t>
            </a:r>
            <a:endParaRPr lang="en-US" sz="2500" dirty="0"/>
          </a:p>
        </p:txBody>
      </p:sp>
      <p:sp>
        <p:nvSpPr>
          <p:cNvPr id="40" name="Shape 38"/>
          <p:cNvSpPr/>
          <p:nvPr/>
        </p:nvSpPr>
        <p:spPr>
          <a:xfrm>
            <a:off x="97566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156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750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161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573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11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增量现金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811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2.0</a:t>
            </a:r>
            <a:endParaRPr lang="en-US" sz="2500" dirty="0"/>
          </a:p>
        </p:txBody>
      </p:sp>
      <p:sp>
        <p:nvSpPr>
          <p:cNvPr id="47" name="Shape 45"/>
          <p:cNvSpPr/>
          <p:nvPr/>
        </p:nvSpPr>
        <p:spPr>
          <a:xfrm>
            <a:off x="658368" y="2496312"/>
            <a:ext cx="10863072" cy="0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版式样张｜合成演示数据，非真实经营结果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参考图·红灰对照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76656" y="2683764"/>
            <a:ext cx="32004" cy="1737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4672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产品收入对比｜前期 / 本期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6355080" y="2683764"/>
            <a:ext cx="32004" cy="1737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83096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增量毛利到现金｜演示单位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6089904" y="2715768"/>
            <a:ext cx="0" cy="2834640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graphicFrame>
        <p:nvGraphicFramePr>
          <p:cNvPr id="56" name="Chart 0" descr=""/>
          <p:cNvGraphicFramePr/>
          <p:nvPr/>
        </p:nvGraphicFramePr>
        <p:xfrm>
          <a:off x="676656" y="3054096"/>
          <a:ext cx="5285232" cy="2587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7" name="Shape 53"/>
          <p:cNvSpPr/>
          <p:nvPr/>
        </p:nvSpPr>
        <p:spPr>
          <a:xfrm>
            <a:off x="6556248" y="5102352"/>
            <a:ext cx="4800600" cy="0"/>
          </a:xfrm>
          <a:prstGeom prst="line">
            <a:avLst/>
          </a:prstGeom>
          <a:noFill/>
          <a:ln w="6350">
            <a:solidFill>
              <a:srgbClr val="E1D6D3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6281928" y="501091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6556248" y="4201668"/>
            <a:ext cx="4800600" cy="0"/>
          </a:xfrm>
          <a:prstGeom prst="line">
            <a:avLst/>
          </a:prstGeom>
          <a:noFill/>
          <a:ln w="6350">
            <a:solidFill>
              <a:srgbClr val="E1D6D3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6281928" y="41102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10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6786677" y="4021531"/>
            <a:ext cx="499262" cy="1080821"/>
          </a:xfrm>
          <a:prstGeom prst="rect">
            <a:avLst/>
          </a:prstGeom>
          <a:solidFill>
            <a:srgbClr val="8A151B"/>
          </a:solidFill>
          <a:ln w="12700">
            <a:solidFill>
              <a:srgbClr val="8A151B">
                <a:alpha val="0"/>
              </a:srgbClr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6676949" y="3747211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12.0</a:t>
            </a:r>
            <a:endParaRPr lang="en-US" sz="1200" dirty="0"/>
          </a:p>
        </p:txBody>
      </p:sp>
      <p:sp>
        <p:nvSpPr>
          <p:cNvPr id="63" name="Text 59"/>
          <p:cNvSpPr/>
          <p:nvPr/>
        </p:nvSpPr>
        <p:spPr>
          <a:xfrm>
            <a:off x="6519672" y="5202936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毛利</a:t>
            </a:r>
            <a:endParaRPr lang="en-US" sz="1100" dirty="0"/>
          </a:p>
        </p:txBody>
      </p:sp>
      <p:sp>
        <p:nvSpPr>
          <p:cNvPr id="64" name="Shape 60"/>
          <p:cNvSpPr/>
          <p:nvPr/>
        </p:nvSpPr>
        <p:spPr>
          <a:xfrm>
            <a:off x="7285939" y="4021531"/>
            <a:ext cx="460858" cy="0"/>
          </a:xfrm>
          <a:prstGeom prst="line">
            <a:avLst/>
          </a:prstGeom>
          <a:noFill/>
          <a:ln w="7620">
            <a:solidFill>
              <a:srgbClr val="B6797D"/>
            </a:solidFill>
            <a:prstDash val="dash"/>
          </a:ln>
        </p:spPr>
      </p:sp>
      <p:sp>
        <p:nvSpPr>
          <p:cNvPr id="65" name="Shape 61"/>
          <p:cNvSpPr/>
          <p:nvPr/>
        </p:nvSpPr>
        <p:spPr>
          <a:xfrm>
            <a:off x="7746797" y="4021531"/>
            <a:ext cx="499262" cy="450342"/>
          </a:xfrm>
          <a:prstGeom prst="rect">
            <a:avLst/>
          </a:prstGeom>
          <a:solidFill>
            <a:srgbClr val="C9C7C5"/>
          </a:solidFill>
          <a:ln w="12700">
            <a:solidFill>
              <a:srgbClr val="C9C7C5">
                <a:alpha val="0"/>
              </a:srgbClr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7637069" y="3747211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-5.0</a:t>
            </a:r>
            <a:endParaRPr lang="en-US" sz="1200" dirty="0"/>
          </a:p>
        </p:txBody>
      </p:sp>
      <p:sp>
        <p:nvSpPr>
          <p:cNvPr id="67" name="Text 63"/>
          <p:cNvSpPr/>
          <p:nvPr/>
        </p:nvSpPr>
        <p:spPr>
          <a:xfrm>
            <a:off x="7479792" y="5202936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材料</a:t>
            </a:r>
            <a:endParaRPr lang="en-US" sz="1100" dirty="0"/>
          </a:p>
        </p:txBody>
      </p:sp>
      <p:sp>
        <p:nvSpPr>
          <p:cNvPr id="68" name="Shape 64"/>
          <p:cNvSpPr/>
          <p:nvPr/>
        </p:nvSpPr>
        <p:spPr>
          <a:xfrm>
            <a:off x="8246059" y="4471873"/>
            <a:ext cx="460858" cy="0"/>
          </a:xfrm>
          <a:prstGeom prst="line">
            <a:avLst/>
          </a:prstGeom>
          <a:noFill/>
          <a:ln w="7620">
            <a:solidFill>
              <a:srgbClr val="B6797D"/>
            </a:solidFill>
            <a:prstDash val="dash"/>
          </a:ln>
        </p:spPr>
      </p:sp>
      <p:sp>
        <p:nvSpPr>
          <p:cNvPr id="69" name="Shape 65"/>
          <p:cNvSpPr/>
          <p:nvPr/>
        </p:nvSpPr>
        <p:spPr>
          <a:xfrm>
            <a:off x="8706917" y="4471873"/>
            <a:ext cx="499262" cy="360274"/>
          </a:xfrm>
          <a:prstGeom prst="rect">
            <a:avLst/>
          </a:prstGeom>
          <a:solidFill>
            <a:srgbClr val="C9C7C5"/>
          </a:solidFill>
          <a:ln w="12700">
            <a:solidFill>
              <a:srgbClr val="C9C7C5">
                <a:alpha val="0"/>
              </a:srgbClr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8597189" y="4197553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-4.0</a:t>
            </a:r>
            <a:endParaRPr lang="en-US" sz="1200" dirty="0"/>
          </a:p>
        </p:txBody>
      </p:sp>
      <p:sp>
        <p:nvSpPr>
          <p:cNvPr id="71" name="Text 67"/>
          <p:cNvSpPr/>
          <p:nvPr/>
        </p:nvSpPr>
        <p:spPr>
          <a:xfrm>
            <a:off x="8439912" y="5202936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采购</a:t>
            </a:r>
            <a:endParaRPr lang="en-US" sz="1100" dirty="0"/>
          </a:p>
        </p:txBody>
      </p:sp>
      <p:sp>
        <p:nvSpPr>
          <p:cNvPr id="72" name="Shape 68"/>
          <p:cNvSpPr/>
          <p:nvPr/>
        </p:nvSpPr>
        <p:spPr>
          <a:xfrm>
            <a:off x="9206179" y="4832147"/>
            <a:ext cx="460858" cy="0"/>
          </a:xfrm>
          <a:prstGeom prst="line">
            <a:avLst/>
          </a:prstGeom>
          <a:noFill/>
          <a:ln w="7620">
            <a:solidFill>
              <a:srgbClr val="B6797D"/>
            </a:solidFill>
            <a:prstDash val="dash"/>
          </a:ln>
        </p:spPr>
      </p:sp>
      <p:sp>
        <p:nvSpPr>
          <p:cNvPr id="73" name="Shape 69"/>
          <p:cNvSpPr/>
          <p:nvPr/>
        </p:nvSpPr>
        <p:spPr>
          <a:xfrm>
            <a:off x="9667037" y="4832147"/>
            <a:ext cx="499262" cy="90068"/>
          </a:xfrm>
          <a:prstGeom prst="rect">
            <a:avLst/>
          </a:prstGeom>
          <a:solidFill>
            <a:srgbClr val="C9C7C5"/>
          </a:solidFill>
          <a:ln w="12700">
            <a:solidFill>
              <a:srgbClr val="C9C7C5">
                <a:alpha val="0"/>
              </a:srgbClr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9557309" y="4557827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-1.0</a:t>
            </a:r>
            <a:endParaRPr lang="en-US" sz="1200" dirty="0"/>
          </a:p>
        </p:txBody>
      </p:sp>
      <p:sp>
        <p:nvSpPr>
          <p:cNvPr id="75" name="Text 71"/>
          <p:cNvSpPr/>
          <p:nvPr/>
        </p:nvSpPr>
        <p:spPr>
          <a:xfrm>
            <a:off x="9400032" y="5202936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其他</a:t>
            </a:r>
            <a:endParaRPr lang="en-US" sz="1100" dirty="0"/>
          </a:p>
        </p:txBody>
      </p:sp>
      <p:sp>
        <p:nvSpPr>
          <p:cNvPr id="76" name="Shape 72"/>
          <p:cNvSpPr/>
          <p:nvPr/>
        </p:nvSpPr>
        <p:spPr>
          <a:xfrm>
            <a:off x="10166299" y="4922215"/>
            <a:ext cx="460858" cy="0"/>
          </a:xfrm>
          <a:prstGeom prst="line">
            <a:avLst/>
          </a:prstGeom>
          <a:noFill/>
          <a:ln w="7620">
            <a:solidFill>
              <a:srgbClr val="B6797D"/>
            </a:solidFill>
            <a:prstDash val="dash"/>
          </a:ln>
        </p:spPr>
      </p:sp>
      <p:sp>
        <p:nvSpPr>
          <p:cNvPr id="77" name="Shape 73"/>
          <p:cNvSpPr/>
          <p:nvPr/>
        </p:nvSpPr>
        <p:spPr>
          <a:xfrm>
            <a:off x="10627157" y="4922215"/>
            <a:ext cx="499262" cy="180137"/>
          </a:xfrm>
          <a:prstGeom prst="rect">
            <a:avLst/>
          </a:prstGeom>
          <a:solidFill>
            <a:srgbClr val="8A151B"/>
          </a:solidFill>
          <a:ln w="12700">
            <a:solidFill>
              <a:srgbClr val="8A151B">
                <a:alpha val="0"/>
              </a:srgbClr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10517429" y="4647895"/>
            <a:ext cx="7187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2.0</a:t>
            </a:r>
            <a:endParaRPr lang="en-US" sz="1200" dirty="0"/>
          </a:p>
        </p:txBody>
      </p:sp>
      <p:sp>
        <p:nvSpPr>
          <p:cNvPr id="79" name="Text 75"/>
          <p:cNvSpPr/>
          <p:nvPr/>
        </p:nvSpPr>
        <p:spPr>
          <a:xfrm>
            <a:off x="10360152" y="5202936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现金</a:t>
            </a:r>
            <a:endParaRPr lang="en-US" sz="1100" dirty="0"/>
          </a:p>
        </p:txBody>
      </p:sp>
      <p:sp>
        <p:nvSpPr>
          <p:cNvPr id="80" name="Shape 76"/>
          <p:cNvSpPr/>
          <p:nvPr/>
        </p:nvSpPr>
        <p:spPr>
          <a:xfrm>
            <a:off x="658368" y="5925312"/>
            <a:ext cx="10863072" cy="402336"/>
          </a:xfrm>
          <a:prstGeom prst="rect">
            <a:avLst/>
          </a:prstGeom>
          <a:solidFill>
            <a:srgbClr val="F3E6E2"/>
          </a:solidFill>
          <a:ln w="12700">
            <a:solidFill>
              <a:srgbClr val="F3E6E2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658368" y="5925312"/>
            <a:ext cx="50292" cy="4023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813816" y="59618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收入 → 备货 → 付款 → 回款</a:t>
            </a:r>
            <a:endParaRPr lang="en-US" sz="1300" dirty="0"/>
          </a:p>
        </p:txBody>
      </p:sp>
      <p:sp>
        <p:nvSpPr>
          <p:cNvPr id="83" name="Text 79"/>
          <p:cNvSpPr/>
          <p:nvPr/>
        </p:nvSpPr>
        <p:spPr>
          <a:xfrm>
            <a:off x="3931920" y="597103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增长贡献与现金占用需要同时解释。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438912"/>
            <a:ext cx="41148" cy="365760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262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总量增加之外，还需识别低周转部分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9509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30" kern="0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FA08 · 结构与效率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502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07 / 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10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721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133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期末库存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34.0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24414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98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09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21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库存增量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963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8.0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42702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886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97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709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51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产品A库存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251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16.0</a:t>
            </a:r>
            <a:endParaRPr lang="en-US" sz="2500" dirty="0"/>
          </a:p>
        </p:txBody>
      </p:sp>
      <p:sp>
        <p:nvSpPr>
          <p:cNvPr id="26" name="Shape 24"/>
          <p:cNvSpPr/>
          <p:nvPr/>
        </p:nvSpPr>
        <p:spPr>
          <a:xfrm>
            <a:off x="60990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174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585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997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产品B库存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539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79278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462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873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85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827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产品C周转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827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48天</a:t>
            </a:r>
            <a:endParaRPr lang="en-US" sz="2500" dirty="0"/>
          </a:p>
        </p:txBody>
      </p:sp>
      <p:sp>
        <p:nvSpPr>
          <p:cNvPr id="40" name="Shape 38"/>
          <p:cNvSpPr/>
          <p:nvPr/>
        </p:nvSpPr>
        <p:spPr>
          <a:xfrm>
            <a:off x="9756648" y="1371600"/>
            <a:ext cx="0" cy="9875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15600" y="1335024"/>
            <a:ext cx="246888" cy="246888"/>
          </a:xfrm>
          <a:prstGeom prst="ellipse">
            <a:avLst/>
          </a:prstGeom>
          <a:solidFill>
            <a:srgbClr val="FFF8F5">
              <a:alpha val="0"/>
            </a:srgbClr>
          </a:solidFill>
          <a:ln w="10160">
            <a:solidFill>
              <a:srgbClr val="B6797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75036" y="1508760"/>
            <a:ext cx="22860" cy="32004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16184" y="1472184"/>
            <a:ext cx="22860" cy="68580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57332" y="1435608"/>
            <a:ext cx="22860" cy="105156"/>
          </a:xfrm>
          <a:prstGeom prst="rect">
            <a:avLst/>
          </a:prstGeom>
          <a:solidFill>
            <a:srgbClr val="B6797D"/>
          </a:solidFill>
          <a:ln w="12700">
            <a:solidFill>
              <a:srgbClr val="B6797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11512" y="1645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其他周转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811512" y="19385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55天</a:t>
            </a:r>
            <a:endParaRPr lang="en-US" sz="2500" dirty="0"/>
          </a:p>
        </p:txBody>
      </p:sp>
      <p:sp>
        <p:nvSpPr>
          <p:cNvPr id="47" name="Shape 45"/>
          <p:cNvSpPr/>
          <p:nvPr/>
        </p:nvSpPr>
        <p:spPr>
          <a:xfrm>
            <a:off x="658368" y="2496312"/>
            <a:ext cx="10863072" cy="0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版式样张｜合成演示数据，非真实经营结果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参考图·红灰对照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76656" y="2683764"/>
            <a:ext cx="32004" cy="1737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4672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库存结构变化｜演示单位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6355080" y="2683764"/>
            <a:ext cx="32004" cy="1737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83096" y="265176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产品库存与周转｜演示单位 / 天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6089904" y="2715768"/>
            <a:ext cx="0" cy="2834640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graphicFrame>
        <p:nvGraphicFramePr>
          <p:cNvPr id="56" name="Chart 0" descr=""/>
          <p:cNvGraphicFramePr/>
          <p:nvPr/>
        </p:nvGraphicFramePr>
        <p:xfrm>
          <a:off x="676656" y="3044952"/>
          <a:ext cx="5285232" cy="26609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7" name="Chart 1" descr=""/>
          <p:cNvGraphicFramePr/>
          <p:nvPr/>
        </p:nvGraphicFramePr>
        <p:xfrm>
          <a:off x="6318504" y="3044952"/>
          <a:ext cx="5212080" cy="26609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8" name="Shape 53"/>
          <p:cNvSpPr/>
          <p:nvPr/>
        </p:nvSpPr>
        <p:spPr>
          <a:xfrm>
            <a:off x="658368" y="5925312"/>
            <a:ext cx="10863072" cy="402336"/>
          </a:xfrm>
          <a:prstGeom prst="rect">
            <a:avLst/>
          </a:prstGeom>
          <a:solidFill>
            <a:srgbClr val="F3E6E2"/>
          </a:solidFill>
          <a:ln w="12700">
            <a:solidFill>
              <a:srgbClr val="F3E6E2">
                <a:alpha val="0"/>
              </a:srgbClr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658368" y="5925312"/>
            <a:ext cx="50292" cy="4023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813816" y="59618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优先处理低周转部分</a:t>
            </a:r>
            <a:endParaRPr lang="en-US" sz="1300" dirty="0"/>
          </a:p>
        </p:txBody>
      </p:sp>
      <p:sp>
        <p:nvSpPr>
          <p:cNvPr id="61" name="Text 56"/>
          <p:cNvSpPr/>
          <p:nvPr/>
        </p:nvSpPr>
        <p:spPr>
          <a:xfrm>
            <a:off x="3931920" y="597103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库存压降应按结构和周转判断，不宜简单一刀切。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438912"/>
            <a:ext cx="41148" cy="365760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262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先识别现金缺口，再选择弥补措施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9509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30" kern="0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FA09 · 预测与情景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502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08 / 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7512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版式样张｜合成演示数据，非真实经营结果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参考图·红灰对照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76656" y="1476756"/>
            <a:ext cx="32004" cy="1737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1444752"/>
            <a:ext cx="5349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基准情景现金变化｜演示单位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8680" y="4599432"/>
            <a:ext cx="5120640" cy="0"/>
          </a:xfrm>
          <a:prstGeom prst="line">
            <a:avLst/>
          </a:prstGeom>
          <a:noFill/>
          <a:ln w="6350">
            <a:solidFill>
              <a:srgbClr val="E1D6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50799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68680" y="3364992"/>
            <a:ext cx="5120640" cy="0"/>
          </a:xfrm>
          <a:prstGeom prst="line">
            <a:avLst/>
          </a:prstGeom>
          <a:noFill/>
          <a:ln w="6350">
            <a:solidFill>
              <a:srgbClr val="E1D6D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327355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20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114471" y="3241548"/>
            <a:ext cx="532547" cy="1357884"/>
          </a:xfrm>
          <a:prstGeom prst="rect">
            <a:avLst/>
          </a:prstGeom>
          <a:solidFill>
            <a:srgbClr val="8A151B"/>
          </a:solidFill>
          <a:ln w="12700">
            <a:solidFill>
              <a:srgbClr val="8A151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4743" y="2967228"/>
            <a:ext cx="7520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22.0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32104" y="47000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期初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647017" y="3241548"/>
            <a:ext cx="491581" cy="0"/>
          </a:xfrm>
          <a:prstGeom prst="line">
            <a:avLst/>
          </a:prstGeom>
          <a:noFill/>
          <a:ln w="7620">
            <a:solidFill>
              <a:srgbClr val="B6797D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2138599" y="2747772"/>
            <a:ext cx="532547" cy="49377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028871" y="2473452"/>
            <a:ext cx="7520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+8.0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856232" y="47000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经营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671145" y="2747772"/>
            <a:ext cx="491581" cy="0"/>
          </a:xfrm>
          <a:prstGeom prst="line">
            <a:avLst/>
          </a:prstGeom>
          <a:noFill/>
          <a:ln w="7620">
            <a:solidFill>
              <a:srgbClr val="B6797D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3162727" y="2747772"/>
            <a:ext cx="532547" cy="617220"/>
          </a:xfrm>
          <a:prstGeom prst="rect">
            <a:avLst/>
          </a:prstGeom>
          <a:solidFill>
            <a:srgbClr val="C9C7C5"/>
          </a:solidFill>
          <a:ln w="12700">
            <a:solidFill>
              <a:srgbClr val="C9C7C5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52999" y="2473452"/>
            <a:ext cx="7520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-10.0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880360" y="47000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投资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95273" y="3364992"/>
            <a:ext cx="491581" cy="0"/>
          </a:xfrm>
          <a:prstGeom prst="line">
            <a:avLst/>
          </a:prstGeom>
          <a:noFill/>
          <a:ln w="7620">
            <a:solidFill>
              <a:srgbClr val="B6797D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4186855" y="3364992"/>
            <a:ext cx="532547" cy="555498"/>
          </a:xfrm>
          <a:prstGeom prst="rect">
            <a:avLst/>
          </a:prstGeom>
          <a:solidFill>
            <a:srgbClr val="C9C7C5"/>
          </a:solidFill>
          <a:ln w="12700">
            <a:solidFill>
              <a:srgbClr val="C9C7C5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77127" y="3090672"/>
            <a:ext cx="7520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-9.0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904488" y="47000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偿债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719401" y="3920490"/>
            <a:ext cx="491581" cy="0"/>
          </a:xfrm>
          <a:prstGeom prst="line">
            <a:avLst/>
          </a:prstGeom>
          <a:noFill/>
          <a:ln w="7620">
            <a:solidFill>
              <a:srgbClr val="B6797D"/>
            </a:solidFill>
            <a:prstDash val="dash"/>
          </a:ln>
        </p:spPr>
      </p:sp>
      <p:sp>
        <p:nvSpPr>
          <p:cNvPr id="31" name="Shape 28"/>
          <p:cNvSpPr/>
          <p:nvPr/>
        </p:nvSpPr>
        <p:spPr>
          <a:xfrm>
            <a:off x="5210983" y="3920490"/>
            <a:ext cx="532547" cy="678942"/>
          </a:xfrm>
          <a:prstGeom prst="rect">
            <a:avLst/>
          </a:prstGeom>
          <a:solidFill>
            <a:srgbClr val="8A151B"/>
          </a:solidFill>
          <a:ln w="12700">
            <a:solidFill>
              <a:srgbClr val="8A151B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01255" y="3646170"/>
            <a:ext cx="7520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11.0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928616" y="47000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期末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199632" y="1481328"/>
            <a:ext cx="0" cy="373075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46520" y="1476756"/>
            <a:ext cx="32004" cy="1737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74536" y="1444752"/>
            <a:ext cx="4892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相同期间的三种情景假设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437376" y="2011680"/>
            <a:ext cx="1527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乐观</a:t>
            </a:r>
            <a:endParaRPr lang="en-US" sz="1900" dirty="0"/>
          </a:p>
        </p:txBody>
      </p:sp>
      <p:sp>
        <p:nvSpPr>
          <p:cNvPr id="38" name="Text 35"/>
          <p:cNvSpPr/>
          <p:nvPr/>
        </p:nvSpPr>
        <p:spPr>
          <a:xfrm>
            <a:off x="6437376" y="2660904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期末现金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437376" y="3017520"/>
            <a:ext cx="1527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9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18.0</a:t>
            </a:r>
            <a:endParaRPr lang="en-US" sz="3100" dirty="0"/>
          </a:p>
        </p:txBody>
      </p:sp>
      <p:sp>
        <p:nvSpPr>
          <p:cNvPr id="40" name="Text 37"/>
          <p:cNvSpPr/>
          <p:nvPr/>
        </p:nvSpPr>
        <p:spPr>
          <a:xfrm>
            <a:off x="6437376" y="3730752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距安全线缺口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437376" y="4050792"/>
            <a:ext cx="1527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</a:t>
            </a:r>
            <a:endParaRPr lang="en-US" sz="2500" dirty="0"/>
          </a:p>
        </p:txBody>
      </p:sp>
      <p:sp>
        <p:nvSpPr>
          <p:cNvPr id="42" name="Text 39"/>
          <p:cNvSpPr/>
          <p:nvPr/>
        </p:nvSpPr>
        <p:spPr>
          <a:xfrm>
            <a:off x="6437376" y="4773168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回款改善、投资分期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8046720" y="2002536"/>
            <a:ext cx="0" cy="3337560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47304" y="2011680"/>
            <a:ext cx="1527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基准</a:t>
            </a:r>
            <a:endParaRPr lang="en-US" sz="1900" dirty="0"/>
          </a:p>
        </p:txBody>
      </p:sp>
      <p:sp>
        <p:nvSpPr>
          <p:cNvPr id="45" name="Text 42"/>
          <p:cNvSpPr/>
          <p:nvPr/>
        </p:nvSpPr>
        <p:spPr>
          <a:xfrm>
            <a:off x="8147304" y="2660904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期末现金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8147304" y="3017520"/>
            <a:ext cx="1527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9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11.0</a:t>
            </a:r>
            <a:endParaRPr lang="en-US" sz="3100" dirty="0"/>
          </a:p>
        </p:txBody>
      </p:sp>
      <p:sp>
        <p:nvSpPr>
          <p:cNvPr id="47" name="Text 44"/>
          <p:cNvSpPr/>
          <p:nvPr/>
        </p:nvSpPr>
        <p:spPr>
          <a:xfrm>
            <a:off x="8147304" y="3730752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距安全线缺口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8147304" y="4050792"/>
            <a:ext cx="1527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</a:t>
            </a:r>
            <a:endParaRPr lang="en-US" sz="2500" dirty="0"/>
          </a:p>
        </p:txBody>
      </p:sp>
      <p:sp>
        <p:nvSpPr>
          <p:cNvPr id="49" name="Text 46"/>
          <p:cNvSpPr/>
          <p:nvPr/>
        </p:nvSpPr>
        <p:spPr>
          <a:xfrm>
            <a:off x="8147304" y="4773168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当前计划保持不变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9756648" y="2002536"/>
            <a:ext cx="0" cy="3337560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857232" y="2011680"/>
            <a:ext cx="1527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压力</a:t>
            </a:r>
            <a:endParaRPr lang="en-US" sz="1900" dirty="0"/>
          </a:p>
        </p:txBody>
      </p:sp>
      <p:sp>
        <p:nvSpPr>
          <p:cNvPr id="52" name="Text 49"/>
          <p:cNvSpPr/>
          <p:nvPr/>
        </p:nvSpPr>
        <p:spPr>
          <a:xfrm>
            <a:off x="9857232" y="2660904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期末现金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9857232" y="3017520"/>
            <a:ext cx="1527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9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5.0</a:t>
            </a:r>
            <a:endParaRPr lang="en-US" sz="3100" dirty="0"/>
          </a:p>
        </p:txBody>
      </p:sp>
      <p:sp>
        <p:nvSpPr>
          <p:cNvPr id="54" name="Text 51"/>
          <p:cNvSpPr/>
          <p:nvPr/>
        </p:nvSpPr>
        <p:spPr>
          <a:xfrm>
            <a:off x="9857232" y="3730752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距安全线缺口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9857232" y="4050792"/>
            <a:ext cx="1527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8A15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</a:t>
            </a:r>
            <a:endParaRPr lang="en-US" sz="2500" dirty="0"/>
          </a:p>
        </p:txBody>
      </p:sp>
      <p:sp>
        <p:nvSpPr>
          <p:cNvPr id="56" name="Text 53"/>
          <p:cNvSpPr/>
          <p:nvPr/>
        </p:nvSpPr>
        <p:spPr>
          <a:xfrm>
            <a:off x="9857232" y="4773168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回款延期、付款集中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704088" y="543153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统一安全线：15.0｜仅用于展示情景版式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658368" y="5925312"/>
            <a:ext cx="10863072" cy="402336"/>
          </a:xfrm>
          <a:prstGeom prst="rect">
            <a:avLst/>
          </a:prstGeom>
          <a:solidFill>
            <a:srgbClr val="F3E6E2"/>
          </a:solidFill>
          <a:ln w="12700">
            <a:solidFill>
              <a:srgbClr val="F3E6E2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58368" y="5925312"/>
            <a:ext cx="50292" cy="4023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13816" y="59618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回款改善 ＋ 支出安排 ＋ 融资</a:t>
            </a:r>
            <a:endParaRPr lang="en-US" sz="1300" dirty="0"/>
          </a:p>
        </p:txBody>
      </p:sp>
      <p:sp>
        <p:nvSpPr>
          <p:cNvPr id="61" name="Text 58"/>
          <p:cNvSpPr/>
          <p:nvPr/>
        </p:nvSpPr>
        <p:spPr>
          <a:xfrm>
            <a:off x="3931920" y="597103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情景值是条件假设，不应写成已经确定的预测结果。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438912"/>
            <a:ext cx="41148" cy="365760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262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措施需要明确责任，并说明预计改善幅度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9509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30" kern="0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FA10 · 措施与改善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502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09 / 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7512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版式样张｜合成演示数据，非真实经营结果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参考图·红灰对照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76656" y="1476756"/>
            <a:ext cx="32004" cy="1737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1444752"/>
            <a:ext cx="5349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措施、责任与预计贡献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37960" y="1476756"/>
            <a:ext cx="32004" cy="1737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5976" y="1444752"/>
            <a:ext cx="4709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6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措施前后现金｜演示单位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63640" y="1490472"/>
            <a:ext cx="0" cy="4233672"/>
          </a:xfrm>
          <a:prstGeom prst="line">
            <a:avLst/>
          </a:prstGeom>
          <a:noFill/>
          <a:ln w="8890">
            <a:solidFill>
              <a:srgbClr val="E1D6D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2002536"/>
          <a:ext cx="5257800" cy="3291840"/>
        </p:xfrm>
        <a:graphic>
          <a:graphicData uri="http://schemas.openxmlformats.org/drawingml/2006/table">
            <a:tbl>
              <a:tblPr/>
              <a:tblGrid>
                <a:gridCol w="2423160"/>
                <a:gridCol w="1554480"/>
                <a:gridCol w="12801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92626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措施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92626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责任团队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92626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预计贡献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92626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加快到期回款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92626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销售团队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92626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+4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92626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压降低效库存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92626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供应链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92626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+3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92626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调整支付节奏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92626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采购团队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92626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+2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92626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优化投资安排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92626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项目团队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92626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+2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92626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调整融资结构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92626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资金团队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92626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+1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76200" marR="76200" marT="127000" marB="127000">
                    <a:lnL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Chart 0" descr=""/>
          <p:cNvGraphicFramePr/>
          <p:nvPr/>
        </p:nvGraphicFramePr>
        <p:xfrm>
          <a:off x="6446520" y="2002536"/>
          <a:ext cx="5010912" cy="31821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1"/>
          <p:cNvSpPr/>
          <p:nvPr/>
        </p:nvSpPr>
        <p:spPr>
          <a:xfrm>
            <a:off x="6757416" y="541324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预计改善 +12.0</a:t>
            </a:r>
            <a:endParaRPr lang="en-US" sz="1900" dirty="0"/>
          </a:p>
        </p:txBody>
      </p:sp>
      <p:sp>
        <p:nvSpPr>
          <p:cNvPr id="17" name="Shape 12"/>
          <p:cNvSpPr/>
          <p:nvPr/>
        </p:nvSpPr>
        <p:spPr>
          <a:xfrm>
            <a:off x="658368" y="5925312"/>
            <a:ext cx="10863072" cy="402336"/>
          </a:xfrm>
          <a:prstGeom prst="rect">
            <a:avLst/>
          </a:prstGeom>
          <a:solidFill>
            <a:srgbClr val="F3E6E2"/>
          </a:solidFill>
          <a:ln w="12700">
            <a:solidFill>
              <a:srgbClr val="F3E6E2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58368" y="5925312"/>
            <a:ext cx="50292" cy="402336"/>
          </a:xfrm>
          <a:prstGeom prst="rect">
            <a:avLst/>
          </a:prstGeom>
          <a:solidFill>
            <a:srgbClr val="A54B51"/>
          </a:solidFill>
          <a:ln w="12700">
            <a:solidFill>
              <a:srgbClr val="A54B51">
                <a:alpha val="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13816" y="59618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151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责任、时点与验收一起落实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931920" y="597103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585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措施贡献需核对重复计算、实施条件与落地时间。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imSu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财务分析版式包 v0.1 · 参考图·红灰对照</dc:title>
  <dc:subject>Synthetic data; reference-inspired editable samples</dc:subject>
  <dc:creator>Patrick · template reconstruction</dc:creator>
  <cp:lastModifiedBy>Patrick · template reconstruction</cp:lastModifiedBy>
  <cp:revision>1</cp:revision>
  <dcterms:created xsi:type="dcterms:W3CDTF">2026-10-03T12:54:53Z</dcterms:created>
  <dcterms:modified xsi:type="dcterms:W3CDTF">2026-10-03T12:54:53Z</dcterms:modified>
</cp:coreProperties>
</file>